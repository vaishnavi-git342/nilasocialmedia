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3" r:id="rId15"/>
    <p:sldId id="284" r:id="rId16"/>
    <p:sldId id="285" r:id="rId17"/>
    <p:sldId id="286" r:id="rId18"/>
    <p:sldId id="287" r:id="rId19"/>
    <p:sldId id="288" r:id="rId20"/>
    <p:sldId id="269" r:id="rId21"/>
    <p:sldId id="270" r:id="rId22"/>
    <p:sldId id="271" r:id="rId23"/>
    <p:sldId id="272" r:id="rId24"/>
    <p:sldId id="273" r:id="rId25"/>
    <p:sldId id="289" r:id="rId26"/>
    <p:sldId id="290" r:id="rId27"/>
    <p:sldId id="291" r:id="rId28"/>
    <p:sldId id="292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FE0B3BC-5169-130A-087C-F16E5E3EFCC4}">
          <p14:sldIdLst>
            <p14:sldId id="256"/>
            <p14:sldId id="257"/>
            <p14:sldId id="258"/>
            <p14:sldId id="259"/>
            <p14:sldId id="260"/>
          </p14:sldIdLst>
        </p14:section>
        <p14:section name="Background" id="{A9C8A244-942D-B5D0-FD21-F3E046F331CA}">
          <p14:sldIdLst>
            <p14:sldId id="261"/>
            <p14:sldId id="262"/>
            <p14:sldId id="263"/>
            <p14:sldId id="264"/>
          </p14:sldIdLst>
        </p14:section>
        <p14:section name="Design" id="{3FE7793A-2E9A-720F-AEF4-7EB1975CBDD1}">
          <p14:sldIdLst>
            <p14:sldId id="265"/>
            <p14:sldId id="266"/>
            <p14:sldId id="267"/>
            <p14:sldId id="268"/>
            <p14:sldId id="283"/>
            <p14:sldId id="284"/>
            <p14:sldId id="285"/>
            <p14:sldId id="286"/>
            <p14:sldId id="287"/>
            <p14:sldId id="288"/>
            <p14:sldId id="269"/>
            <p14:sldId id="270"/>
          </p14:sldIdLst>
        </p14:section>
        <p14:section name="Build &amp; Evaluate" id="{3A802C3E-299E-C661-2736-6C6774866081}">
          <p14:sldIdLst>
            <p14:sldId id="271"/>
            <p14:sldId id="272"/>
            <p14:sldId id="273"/>
            <p14:sldId id="289"/>
            <p14:sldId id="290"/>
            <p14:sldId id="291"/>
            <p14:sldId id="292"/>
            <p14:sldId id="274"/>
            <p14:sldId id="275"/>
            <p14:sldId id="276"/>
          </p14:sldIdLst>
        </p14:section>
        <p14:section name="Wrap-up" id="{D2E2B6C1-97DA-ACA4-63D1-2CAB654D723C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870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Nila Social Media, yourself, your guide and the department. Fill in the college name and academic year placeholders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Nila Social Media is, its purpose, target users and why it was developed.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five points: social networking, accounts and privacy, interaction, Local AI Studio,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problem and the need it creates.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main objectives. The panel on the right lists what else is in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platforms already offer sharing, likes, comments and follow. The gap is the missing intelligence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Nila Social Media combines the four AI-driven additions with the core social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is grouped into six areas. Target roles: User and Super Admin.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papers on image captioning, the basis for the AI caption feature. BLIP is the model named for image captioning in the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Frontend: HTML, CSS, JavaScript, Bootstrap. Backend: Python and Flask. Database: SQLite. AI: PyTorch, OpenCV and BLIP.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values were not documented, so the slide states a standard Python/Flask-capable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Flow: User -&gt; presentation layer -&gt; Flask application layer -&gt; functional modules -&gt; AI processing engine -&gt; SQLite database -&gt; results and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design diagrams: DFD level 0, level 1 for Admin and User, ER, use case, class, state and sequence diagrams. The use case diagram has been relabelled with the Nila Social Media title and Create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functional modules from the architecture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Top: the post creation flow from the sequence diagram. Bottom: the six-phase development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Implementation follows the layered architecture: presentation, Flask application, modules, AI processing and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qualitative observations. No numerical performance results were documented.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 are taken from the project. Retake them after the application name is changed to Nila Social Media, since the interface in these images still shows the earlier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comparison factual. Rows marked Not covered in the source were not described for existing systems in the project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eight test cases were observed working during manual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the demo video, or add the link or QR code in the placeholder. Follow the suggested demo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Advantages drawn from the project scope, architecture and feasibility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these as boundaries of the current version. Confirm against your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what was built, the main functionality, the technical approach and the outcome, without overclaiming.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these are possible improvements, not current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follow IEEE style as far as the available details allow.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panel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Nila Social Media  |  MCA Mini Project Final Presentation  |  Vaishnavi Gireesh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Nila Social Media  |  MCA Mini Project Final Presentation  |  Vaishnavi Gireesh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7D2E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32.png"/><Relationship Id="rId3" Type="http://schemas.openxmlformats.org/officeDocument/2006/relationships/image" Target="../media/image25.png"/><Relationship Id="rId7" Type="http://schemas.openxmlformats.org/officeDocument/2006/relationships/image" Target="../media/image23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11" Type="http://schemas.openxmlformats.org/officeDocument/2006/relationships/image" Target="../media/image30.png"/><Relationship Id="rId5" Type="http://schemas.openxmlformats.org/officeDocument/2006/relationships/image" Target="../media/image21.png"/><Relationship Id="rId10" Type="http://schemas.openxmlformats.org/officeDocument/2006/relationships/image" Target="../media/image29.png"/><Relationship Id="rId4" Type="http://schemas.openxmlformats.org/officeDocument/2006/relationships/image" Target="../media/image26.png"/><Relationship Id="rId9" Type="http://schemas.openxmlformats.org/officeDocument/2006/relationships/image" Target="../media/image28.png"/><Relationship Id="rId1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17.png"/><Relationship Id="rId4" Type="http://schemas.openxmlformats.org/officeDocument/2006/relationships/image" Target="../media/image15.png"/><Relationship Id="rId9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44.png"/><Relationship Id="rId9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5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6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 txBox="1"/>
          <p:nvPr/>
        </p:nvSpPr>
        <p:spPr>
          <a:xfrm>
            <a:off x="731520" y="11887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chemeClr val="bg1"/>
                </a:solidFill>
              </a:rPr>
              <a:t>NILA SOCIAL MEDIA</a:t>
            </a:r>
            <a:endParaRPr lang="en-US" sz="4600" dirty="0"/>
          </a:p>
        </p:txBody>
      </p:sp>
      <p:sp>
        <p:nvSpPr>
          <p:cNvPr id="4" name="Text 3"/>
          <p:cNvSpPr txBox="1"/>
          <p:nvPr/>
        </p:nvSpPr>
        <p:spPr>
          <a:xfrm>
            <a:off x="731520" y="219456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bg2"/>
                </a:solidFill>
              </a:rPr>
              <a:t>A Web-Based Social Media Application with Local AI Studio</a:t>
            </a:r>
            <a:endParaRPr lang="en-US" sz="2200" dirty="0"/>
          </a:p>
        </p:txBody>
      </p:sp>
      <p:sp>
        <p:nvSpPr>
          <p:cNvPr id="5" name="Text 4"/>
          <p:cNvSpPr txBox="1"/>
          <p:nvPr/>
        </p:nvSpPr>
        <p:spPr>
          <a:xfrm>
            <a:off x="731520" y="342900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bg2">
                    <a:alpha val="75000"/>
                  </a:schemeClr>
                </a:solidFill>
              </a:rPr>
              <a:t>STUDENT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Vaishnavi Gireesh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2"/>
                </a:solidFill>
              </a:rPr>
              <a:t>MLM25MCA-2057</a:t>
            </a:r>
            <a:endParaRPr lang="en-US" sz="1400" b="1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Department of Computer Applications</a:t>
            </a:r>
            <a:endParaRPr lang="en-US" sz="1400" dirty="0"/>
          </a:p>
          <a:p>
            <a:pPr>
              <a:spcAft>
                <a:spcPts val="400"/>
              </a:spcAft>
            </a:pPr>
            <a:endParaRPr lang="en-IN" sz="14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 5"/>
          <p:cNvSpPr txBox="1"/>
          <p:nvPr/>
        </p:nvSpPr>
        <p:spPr>
          <a:xfrm>
            <a:off x="4343400" y="342900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bg2">
                    <a:alpha val="75000"/>
                  </a:schemeClr>
                </a:solidFill>
              </a:rPr>
              <a:t>PROJECT GUIDE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Ms. Ashwini Vijayachandran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Assistant Professor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Department of Computer Applications</a:t>
            </a:r>
            <a:endParaRPr lang="en-US" sz="1400" dirty="0"/>
          </a:p>
        </p:txBody>
      </p:sp>
      <p:sp>
        <p:nvSpPr>
          <p:cNvPr id="7" name="Text 6"/>
          <p:cNvSpPr txBox="1"/>
          <p:nvPr/>
        </p:nvSpPr>
        <p:spPr>
          <a:xfrm>
            <a:off x="762001" y="5852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endParaRPr lang="en-IN" sz="1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Shape 7"/>
          <p:cNvSpPr/>
          <p:nvPr/>
        </p:nvSpPr>
        <p:spPr>
          <a:xfrm>
            <a:off x="8229600" y="777240"/>
            <a:ext cx="3291840" cy="5303520"/>
          </a:xfrm>
          <a:prstGeom prst="roundRect">
            <a:avLst>
              <a:gd name="adj" fmla="val 8333"/>
            </a:avLst>
          </a:prstGeom>
          <a:solidFill>
            <a:schemeClr val="bg1">
              <a:alpha val="7000"/>
            </a:scheme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8"/>
          <p:cNvSpPr/>
          <p:nvPr/>
        </p:nvSpPr>
        <p:spPr>
          <a:xfrm>
            <a:off x="8485632" y="1051560"/>
            <a:ext cx="566928" cy="56692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10" name="Shape 9"/>
          <p:cNvSpPr/>
          <p:nvPr/>
        </p:nvSpPr>
        <p:spPr>
          <a:xfrm>
            <a:off x="9235440" y="1051560"/>
            <a:ext cx="566928" cy="566928"/>
          </a:xfrm>
          <a:prstGeom prst="ellipse">
            <a:avLst/>
          </a:prstGeom>
          <a:solidFill>
            <a:schemeClr val="accent1">
              <a:alpha val="70000"/>
            </a:schemeClr>
          </a:solidFill>
          <a:ln w="19050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11" name="Shape 10"/>
          <p:cNvSpPr/>
          <p:nvPr/>
        </p:nvSpPr>
        <p:spPr>
          <a:xfrm>
            <a:off x="9985248" y="1051560"/>
            <a:ext cx="566928" cy="566928"/>
          </a:xfrm>
          <a:prstGeom prst="ellipse">
            <a:avLst/>
          </a:prstGeom>
          <a:solidFill>
            <a:schemeClr val="accent1">
              <a:alpha val="70000"/>
            </a:schemeClr>
          </a:solidFill>
          <a:ln w="19050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12" name="Shape 11"/>
          <p:cNvSpPr/>
          <p:nvPr/>
        </p:nvSpPr>
        <p:spPr>
          <a:xfrm>
            <a:off x="10735056" y="1051560"/>
            <a:ext cx="566928" cy="566928"/>
          </a:xfrm>
          <a:prstGeom prst="ellipse">
            <a:avLst/>
          </a:prstGeom>
          <a:solidFill>
            <a:schemeClr val="accent1">
              <a:alpha val="70000"/>
            </a:schemeClr>
          </a:solidFill>
          <a:ln w="19050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13" name="Shape 12"/>
          <p:cNvSpPr/>
          <p:nvPr/>
        </p:nvSpPr>
        <p:spPr>
          <a:xfrm>
            <a:off x="8485632" y="1874520"/>
            <a:ext cx="2779776" cy="2331720"/>
          </a:xfrm>
          <a:prstGeom prst="roundRect">
            <a:avLst>
              <a:gd name="adj" fmla="val 5882"/>
            </a:avLst>
          </a:prstGeom>
          <a:solidFill>
            <a:schemeClr val="accent1">
              <a:alpha val="65000"/>
            </a:schemeClr>
          </a:solidFill>
          <a:ln/>
        </p:spPr>
      </p:sp>
      <p:pic>
        <p:nvPicPr>
          <p:cNvPr id="14" name="Icon 13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2651760"/>
            <a:ext cx="731520" cy="731520"/>
          </a:xfrm>
          <a:prstGeom prst="rect">
            <a:avLst/>
          </a:prstGeom>
        </p:spPr>
      </p:pic>
      <p:pic>
        <p:nvPicPr>
          <p:cNvPr id="15" name="Icon 14" descr="FaHe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4370832"/>
            <a:ext cx="292608" cy="292608"/>
          </a:xfrm>
          <a:prstGeom prst="rect">
            <a:avLst/>
          </a:prstGeom>
        </p:spPr>
      </p:pic>
      <p:pic>
        <p:nvPicPr>
          <p:cNvPr id="16" name="Icon 15" descr="FaCommentDo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4370832"/>
            <a:ext cx="292608" cy="292608"/>
          </a:xfrm>
          <a:prstGeom prst="rect">
            <a:avLst/>
          </a:prstGeom>
        </p:spPr>
      </p:pic>
      <p:pic>
        <p:nvPicPr>
          <p:cNvPr id="17" name="Icon 16" descr="FaPaperPla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0" y="4370832"/>
            <a:ext cx="292608" cy="292608"/>
          </a:xfrm>
          <a:prstGeom prst="rect">
            <a:avLst/>
          </a:prstGeom>
        </p:spPr>
      </p:pic>
      <p:sp>
        <p:nvSpPr>
          <p:cNvPr id="18" name="Shape 17"/>
          <p:cNvSpPr/>
          <p:nvPr/>
        </p:nvSpPr>
        <p:spPr>
          <a:xfrm>
            <a:off x="8503920" y="4846320"/>
            <a:ext cx="2194560" cy="118872"/>
          </a:xfrm>
          <a:prstGeom prst="roundRect">
            <a:avLst>
              <a:gd name="adj" fmla="val 46154"/>
            </a:avLst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19" name="Shape 18"/>
          <p:cNvSpPr/>
          <p:nvPr/>
        </p:nvSpPr>
        <p:spPr>
          <a:xfrm>
            <a:off x="8503920" y="5074920"/>
            <a:ext cx="1645920" cy="118872"/>
          </a:xfrm>
          <a:prstGeom prst="roundRect">
            <a:avLst>
              <a:gd name="adj" fmla="val 46154"/>
            </a:avLst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20" name="Shape 19"/>
          <p:cNvSpPr/>
          <p:nvPr/>
        </p:nvSpPr>
        <p:spPr>
          <a:xfrm>
            <a:off x="8485632" y="5349240"/>
            <a:ext cx="2779776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/>
        </p:spPr>
      </p:sp>
      <p:sp>
        <p:nvSpPr>
          <p:cNvPr id="21" name="Text 20"/>
          <p:cNvSpPr txBox="1"/>
          <p:nvPr/>
        </p:nvSpPr>
        <p:spPr>
          <a:xfrm>
            <a:off x="8485632" y="5349240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Local AI Studio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Shape 21"/>
          <p:cNvSpPr/>
          <p:nvPr/>
        </p:nvSpPr>
        <p:spPr>
          <a:xfrm>
            <a:off x="548640" y="1325880"/>
            <a:ext cx="11091672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6" name="Text 24"/>
          <p:cNvSpPr txBox="1"/>
          <p:nvPr/>
        </p:nvSpPr>
        <p:spPr>
          <a:xfrm>
            <a:off x="1600200" y="1399032"/>
            <a:ext cx="895936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endParaRPr lang="en-US" sz="16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web-based social media application where users share posts, stories and reels and interact with each other.</a:t>
            </a:r>
            <a:endParaRPr lang="en-US" sz="1600" dirty="0"/>
          </a:p>
        </p:txBody>
      </p:sp>
      <p:sp>
        <p:nvSpPr>
          <p:cNvPr id="7" name="Shape 25"/>
          <p:cNvSpPr/>
          <p:nvPr/>
        </p:nvSpPr>
        <p:spPr>
          <a:xfrm>
            <a:off x="548640" y="2514600"/>
            <a:ext cx="1109167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0" name="Text 28"/>
          <p:cNvSpPr txBox="1"/>
          <p:nvPr/>
        </p:nvSpPr>
        <p:spPr>
          <a:xfrm>
            <a:off x="1600199" y="2587752"/>
            <a:ext cx="8959363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Provide core social features together with AI assistance for captions, hashtags and moderation.</a:t>
            </a:r>
            <a:endParaRPr lang="en-US" sz="1600" dirty="0"/>
          </a:p>
        </p:txBody>
      </p:sp>
      <p:sp>
        <p:nvSpPr>
          <p:cNvPr id="11" name="Shape 29"/>
          <p:cNvSpPr/>
          <p:nvPr/>
        </p:nvSpPr>
        <p:spPr>
          <a:xfrm>
            <a:off x="548639" y="3703320"/>
            <a:ext cx="11091671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4" name="Text 32"/>
          <p:cNvSpPr txBox="1"/>
          <p:nvPr/>
        </p:nvSpPr>
        <p:spPr>
          <a:xfrm>
            <a:off x="1600200" y="3776472"/>
            <a:ext cx="895936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endParaRPr lang="en-US" sz="16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Local AI Studio built into the application, so intelligence is part of everyday posting.</a:t>
            </a:r>
            <a:endParaRPr lang="en-US" sz="1600" dirty="0"/>
          </a:p>
        </p:txBody>
      </p:sp>
      <p:sp>
        <p:nvSpPr>
          <p:cNvPr id="15" name="Shape 33"/>
          <p:cNvSpPr/>
          <p:nvPr/>
        </p:nvSpPr>
        <p:spPr>
          <a:xfrm>
            <a:off x="548639" y="4892040"/>
            <a:ext cx="11091673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8" name="Text 36"/>
          <p:cNvSpPr txBox="1"/>
          <p:nvPr/>
        </p:nvSpPr>
        <p:spPr>
          <a:xfrm>
            <a:off x="1600200" y="4965192"/>
            <a:ext cx="895936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endParaRPr lang="en-US" sz="16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Registered users, and a Super Admin who manages users, features and reports.</a:t>
            </a:r>
            <a:endParaRPr lang="en-US" sz="1600" dirty="0"/>
          </a:p>
        </p:txBody>
      </p:sp>
      <p:sp>
        <p:nvSpPr>
          <p:cNvPr id="20" name="Text 38"/>
          <p:cNvSpPr txBox="1"/>
          <p:nvPr/>
        </p:nvSpPr>
        <p:spPr>
          <a:xfrm>
            <a:off x="749808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2"/>
                </a:solidFill>
              </a:rPr>
              <a:t>WHY IT WAS DEVELOPED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Abstract</a:t>
            </a:r>
            <a:endParaRPr lang="en-US" sz="3200" dirty="0"/>
          </a:p>
        </p:txBody>
      </p:sp>
      <p:sp>
        <p:nvSpPr>
          <p:cNvPr id="3" name="Shape 42"/>
          <p:cNvSpPr/>
          <p:nvPr/>
        </p:nvSpPr>
        <p:spPr>
          <a:xfrm>
            <a:off x="548640" y="1385316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6" name="Text 45"/>
          <p:cNvSpPr txBox="1"/>
          <p:nvPr/>
        </p:nvSpPr>
        <p:spPr>
          <a:xfrm>
            <a:off x="1554480" y="137160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7" name="Text 46"/>
          <p:cNvSpPr txBox="1"/>
          <p:nvPr/>
        </p:nvSpPr>
        <p:spPr>
          <a:xfrm>
            <a:off x="1554480" y="1371600"/>
            <a:ext cx="75255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Web application built with Flask and SQLite for sharing posts, stories and reels.</a:t>
            </a:r>
            <a:endParaRPr lang="en-US" sz="1500" dirty="0"/>
          </a:p>
        </p:txBody>
      </p:sp>
      <p:sp>
        <p:nvSpPr>
          <p:cNvPr id="8" name="Shape 47"/>
          <p:cNvSpPr/>
          <p:nvPr/>
        </p:nvSpPr>
        <p:spPr>
          <a:xfrm>
            <a:off x="548640" y="2322576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1" name="Text 50"/>
          <p:cNvSpPr txBox="1"/>
          <p:nvPr/>
        </p:nvSpPr>
        <p:spPr>
          <a:xfrm>
            <a:off x="1554480" y="2322576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2" name="Text 51"/>
          <p:cNvSpPr txBox="1"/>
          <p:nvPr/>
        </p:nvSpPr>
        <p:spPr>
          <a:xfrm>
            <a:off x="1554480" y="2226564"/>
            <a:ext cx="75255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Registration, login, profiles, private accounts, follow requests, block, mute and restrict.</a:t>
            </a:r>
            <a:endParaRPr lang="en-US" sz="1500" dirty="0"/>
          </a:p>
        </p:txBody>
      </p:sp>
      <p:sp>
        <p:nvSpPr>
          <p:cNvPr id="13" name="Shape 52"/>
          <p:cNvSpPr/>
          <p:nvPr/>
        </p:nvSpPr>
        <p:spPr>
          <a:xfrm>
            <a:off x="548640" y="3273552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6" name="Text 55"/>
          <p:cNvSpPr txBox="1"/>
          <p:nvPr/>
        </p:nvSpPr>
        <p:spPr>
          <a:xfrm>
            <a:off x="1554480" y="3273552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7" name="Text 56"/>
          <p:cNvSpPr txBox="1"/>
          <p:nvPr/>
        </p:nvSpPr>
        <p:spPr>
          <a:xfrm>
            <a:off x="1554480" y="3279882"/>
            <a:ext cx="75255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Likes, comments, saves, search and explore, direct messaging and notifications.</a:t>
            </a:r>
            <a:endParaRPr lang="en-US" sz="1500" dirty="0"/>
          </a:p>
        </p:txBody>
      </p:sp>
      <p:sp>
        <p:nvSpPr>
          <p:cNvPr id="18" name="Shape 57"/>
          <p:cNvSpPr/>
          <p:nvPr/>
        </p:nvSpPr>
        <p:spPr>
          <a:xfrm>
            <a:off x="548640" y="4224528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21" name="Text 60"/>
          <p:cNvSpPr txBox="1"/>
          <p:nvPr/>
        </p:nvSpPr>
        <p:spPr>
          <a:xfrm>
            <a:off x="1554480" y="4224528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22" name="Text 61"/>
          <p:cNvSpPr txBox="1"/>
          <p:nvPr/>
        </p:nvSpPr>
        <p:spPr>
          <a:xfrm>
            <a:off x="1554480" y="4279392"/>
            <a:ext cx="75255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Image captions, hashtag suggestions, bilingual support, places and toxicity moderation.</a:t>
            </a:r>
            <a:endParaRPr lang="en-US" sz="1500" dirty="0"/>
          </a:p>
        </p:txBody>
      </p:sp>
      <p:sp>
        <p:nvSpPr>
          <p:cNvPr id="23" name="Shape 62"/>
          <p:cNvSpPr/>
          <p:nvPr/>
        </p:nvSpPr>
        <p:spPr>
          <a:xfrm>
            <a:off x="548640" y="5175504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27" name="Text 66"/>
          <p:cNvSpPr txBox="1"/>
          <p:nvPr/>
        </p:nvSpPr>
        <p:spPr>
          <a:xfrm>
            <a:off x="1554480" y="5120640"/>
            <a:ext cx="75255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Super Admin manages users, feature flags, reports and analytics.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Definition</a:t>
            </a:r>
            <a:endParaRPr lang="en-US" sz="3200" dirty="0"/>
          </a:p>
        </p:txBody>
      </p:sp>
      <p:sp>
        <p:nvSpPr>
          <p:cNvPr id="3" name="Text 67"/>
          <p:cNvSpPr txBox="1"/>
          <p:nvPr/>
        </p:nvSpPr>
        <p:spPr>
          <a:xfrm>
            <a:off x="548640" y="1280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4"/>
                </a:solidFill>
              </a:rPr>
              <a:t>PROBLEM</a:t>
            </a:r>
            <a:endParaRPr lang="en-US" sz="1200" dirty="0"/>
          </a:p>
        </p:txBody>
      </p:sp>
      <p:sp>
        <p:nvSpPr>
          <p:cNvPr id="4" name="Text 68"/>
          <p:cNvSpPr txBox="1"/>
          <p:nvPr/>
        </p:nvSpPr>
        <p:spPr>
          <a:xfrm>
            <a:off x="6583680" y="1280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NEED</a:t>
            </a:r>
            <a:endParaRPr lang="en-US" sz="1200" dirty="0"/>
          </a:p>
        </p:txBody>
      </p:sp>
      <p:sp>
        <p:nvSpPr>
          <p:cNvPr id="5" name="Shape 69"/>
          <p:cNvSpPr/>
          <p:nvPr/>
        </p:nvSpPr>
        <p:spPr>
          <a:xfrm>
            <a:off x="548640" y="1627632"/>
            <a:ext cx="566928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6" name="Shape 70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7" name="Icon FaTags 71" descr="Tag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65960"/>
            <a:ext cx="274320" cy="274320"/>
          </a:xfrm>
          <a:prstGeom prst="rect">
            <a:avLst/>
          </a:prstGeom>
        </p:spPr>
      </p:pic>
      <p:sp>
        <p:nvSpPr>
          <p:cNvPr id="8" name="Text 72"/>
          <p:cNvSpPr txBox="1"/>
          <p:nvPr/>
        </p:nvSpPr>
        <p:spPr>
          <a:xfrm>
            <a:off x="1463040" y="1627632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No auto caption or hashtag tools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Users write captions and hashtags manually, with no AI assistance.</a:t>
            </a:r>
            <a:endParaRPr lang="en-US" sz="1500" dirty="0"/>
          </a:p>
        </p:txBody>
      </p:sp>
      <p:sp>
        <p:nvSpPr>
          <p:cNvPr id="9" name="Connector 73"/>
          <p:cNvSpPr/>
          <p:nvPr/>
        </p:nvSpPr>
        <p:spPr>
          <a:xfrm>
            <a:off x="6263640" y="2103120"/>
            <a:ext cx="228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Shape 74"/>
          <p:cNvSpPr/>
          <p:nvPr/>
        </p:nvSpPr>
        <p:spPr>
          <a:xfrm>
            <a:off x="6583680" y="1627632"/>
            <a:ext cx="5056632" cy="960120"/>
          </a:xfrm>
          <a:prstGeom prst="roundRect">
            <a:avLst>
              <a:gd name="adj" fmla="val 11429"/>
            </a:avLst>
          </a:prstGeom>
          <a:solidFill>
            <a:schemeClr val="accent1">
              <a:alpha val="8000"/>
            </a:schemeClr>
          </a:solidFill>
          <a:ln w="9525">
            <a:solidFill>
              <a:srgbClr val="C9CCF4"/>
            </a:solidFill>
            <a:prstDash val="solid"/>
          </a:ln>
        </p:spPr>
      </p:sp>
      <p:sp>
        <p:nvSpPr>
          <p:cNvPr id="11" name="Text 75"/>
          <p:cNvSpPr txBox="1"/>
          <p:nvPr/>
        </p:nvSpPr>
        <p:spPr>
          <a:xfrm>
            <a:off x="6812280" y="1627632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AI-based caption and hashtag generation for every post.</a:t>
            </a:r>
            <a:endParaRPr lang="en-US" sz="1400" dirty="0"/>
          </a:p>
        </p:txBody>
      </p:sp>
      <p:sp>
        <p:nvSpPr>
          <p:cNvPr id="12" name="Shape 76"/>
          <p:cNvSpPr/>
          <p:nvPr/>
        </p:nvSpPr>
        <p:spPr>
          <a:xfrm>
            <a:off x="548640" y="2724912"/>
            <a:ext cx="566928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3" name="Shape 77"/>
          <p:cNvSpPr/>
          <p:nvPr/>
        </p:nvSpPr>
        <p:spPr>
          <a:xfrm>
            <a:off x="731520" y="2926080"/>
            <a:ext cx="548640" cy="54864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14" name="Icon FaShieldAlt 78" descr="ShieldAl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063240"/>
            <a:ext cx="274320" cy="274320"/>
          </a:xfrm>
          <a:prstGeom prst="rect">
            <a:avLst/>
          </a:prstGeom>
        </p:spPr>
      </p:pic>
      <p:sp>
        <p:nvSpPr>
          <p:cNvPr id="15" name="Text 79"/>
          <p:cNvSpPr txBox="1"/>
          <p:nvPr/>
        </p:nvSpPr>
        <p:spPr>
          <a:xfrm>
            <a:off x="1463040" y="2724912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Weak spam and fake account detection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Bots and fake profiles are hard to catch without ML-based detection.</a:t>
            </a:r>
            <a:endParaRPr lang="en-US" sz="1500" dirty="0"/>
          </a:p>
        </p:txBody>
      </p:sp>
      <p:sp>
        <p:nvSpPr>
          <p:cNvPr id="16" name="Connector 80"/>
          <p:cNvSpPr/>
          <p:nvPr/>
        </p:nvSpPr>
        <p:spPr>
          <a:xfrm>
            <a:off x="6263640" y="3200400"/>
            <a:ext cx="228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Shape 81"/>
          <p:cNvSpPr/>
          <p:nvPr/>
        </p:nvSpPr>
        <p:spPr>
          <a:xfrm>
            <a:off x="6583680" y="2724912"/>
            <a:ext cx="5056632" cy="960120"/>
          </a:xfrm>
          <a:prstGeom prst="roundRect">
            <a:avLst>
              <a:gd name="adj" fmla="val 11429"/>
            </a:avLst>
          </a:prstGeom>
          <a:solidFill>
            <a:schemeClr val="accent1">
              <a:alpha val="8000"/>
            </a:schemeClr>
          </a:solidFill>
          <a:ln w="9525">
            <a:solidFill>
              <a:srgbClr val="C9CCF4"/>
            </a:solidFill>
            <a:prstDash val="solid"/>
          </a:ln>
        </p:spPr>
      </p:sp>
      <p:sp>
        <p:nvSpPr>
          <p:cNvPr id="18" name="Text 82"/>
          <p:cNvSpPr txBox="1"/>
          <p:nvPr/>
        </p:nvSpPr>
        <p:spPr>
          <a:xfrm>
            <a:off x="6812280" y="2724912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 classifier that detects spam and suspicious accounts.</a:t>
            </a:r>
            <a:endParaRPr lang="en-US" sz="1400" dirty="0"/>
          </a:p>
        </p:txBody>
      </p:sp>
      <p:sp>
        <p:nvSpPr>
          <p:cNvPr id="19" name="Shape 83"/>
          <p:cNvSpPr/>
          <p:nvPr/>
        </p:nvSpPr>
        <p:spPr>
          <a:xfrm>
            <a:off x="548640" y="3822192"/>
            <a:ext cx="566928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20" name="Shape 84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21" name="Icon FaClock 85" descr="Clock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160520"/>
            <a:ext cx="274320" cy="274320"/>
          </a:xfrm>
          <a:prstGeom prst="rect">
            <a:avLst/>
          </a:prstGeom>
        </p:spPr>
      </p:pic>
      <p:sp>
        <p:nvSpPr>
          <p:cNvPr id="22" name="Text 86"/>
          <p:cNvSpPr txBox="1"/>
          <p:nvPr/>
        </p:nvSpPr>
        <p:spPr>
          <a:xfrm>
            <a:off x="1463040" y="3822192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Rigid story limitations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 fixed 24-hour window limits creators and audience engagement.</a:t>
            </a:r>
            <a:endParaRPr lang="en-US" sz="1500" dirty="0"/>
          </a:p>
        </p:txBody>
      </p:sp>
      <p:sp>
        <p:nvSpPr>
          <p:cNvPr id="23" name="Connector 87"/>
          <p:cNvSpPr/>
          <p:nvPr/>
        </p:nvSpPr>
        <p:spPr>
          <a:xfrm>
            <a:off x="6263640" y="4297680"/>
            <a:ext cx="228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Shape 88"/>
          <p:cNvSpPr/>
          <p:nvPr/>
        </p:nvSpPr>
        <p:spPr>
          <a:xfrm>
            <a:off x="6583680" y="3822192"/>
            <a:ext cx="5056632" cy="960120"/>
          </a:xfrm>
          <a:prstGeom prst="roundRect">
            <a:avLst>
              <a:gd name="adj" fmla="val 11429"/>
            </a:avLst>
          </a:prstGeom>
          <a:solidFill>
            <a:schemeClr val="accent1">
              <a:alpha val="8000"/>
            </a:schemeClr>
          </a:solidFill>
          <a:ln w="9525">
            <a:solidFill>
              <a:srgbClr val="C9CCF4"/>
            </a:solidFill>
            <a:prstDash val="solid"/>
          </a:ln>
        </p:spPr>
      </p:sp>
      <p:sp>
        <p:nvSpPr>
          <p:cNvPr id="25" name="Text 89"/>
          <p:cNvSpPr txBox="1"/>
          <p:nvPr/>
        </p:nvSpPr>
        <p:spPr>
          <a:xfrm>
            <a:off x="6812280" y="3822192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Extended stories with viewer tracking and easy search.</a:t>
            </a:r>
            <a:endParaRPr lang="en-US" sz="1400" dirty="0"/>
          </a:p>
        </p:txBody>
      </p:sp>
      <p:sp>
        <p:nvSpPr>
          <p:cNvPr id="26" name="Shape 90"/>
          <p:cNvSpPr/>
          <p:nvPr/>
        </p:nvSpPr>
        <p:spPr>
          <a:xfrm>
            <a:off x="548640" y="4919472"/>
            <a:ext cx="566928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27" name="Shape 91"/>
          <p:cNvSpPr/>
          <p:nvPr/>
        </p:nvSpPr>
        <p:spPr>
          <a:xfrm>
            <a:off x="731520" y="5120640"/>
            <a:ext cx="548640" cy="54864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28" name="Icon FaEye 92" descr="Ey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257800"/>
            <a:ext cx="274320" cy="274320"/>
          </a:xfrm>
          <a:prstGeom prst="rect">
            <a:avLst/>
          </a:prstGeom>
        </p:spPr>
      </p:pic>
      <p:sp>
        <p:nvSpPr>
          <p:cNvPr id="29" name="Text 93"/>
          <p:cNvSpPr txBox="1"/>
          <p:nvPr/>
        </p:nvSpPr>
        <p:spPr>
          <a:xfrm>
            <a:off x="1463040" y="4919472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Poor image recognition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Uploaded media is not automatically identified, which limits smart tagging.</a:t>
            </a:r>
            <a:endParaRPr lang="en-US" sz="1500" dirty="0"/>
          </a:p>
        </p:txBody>
      </p:sp>
      <p:sp>
        <p:nvSpPr>
          <p:cNvPr id="30" name="Connector 94"/>
          <p:cNvSpPr/>
          <p:nvPr/>
        </p:nvSpPr>
        <p:spPr>
          <a:xfrm>
            <a:off x="6263640" y="5394960"/>
            <a:ext cx="228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Shape 95"/>
          <p:cNvSpPr/>
          <p:nvPr/>
        </p:nvSpPr>
        <p:spPr>
          <a:xfrm>
            <a:off x="6583680" y="4919472"/>
            <a:ext cx="5056632" cy="960120"/>
          </a:xfrm>
          <a:prstGeom prst="roundRect">
            <a:avLst>
              <a:gd name="adj" fmla="val 11429"/>
            </a:avLst>
          </a:prstGeom>
          <a:solidFill>
            <a:schemeClr val="accent1">
              <a:alpha val="8000"/>
            </a:schemeClr>
          </a:solidFill>
          <a:ln w="9525">
            <a:solidFill>
              <a:srgbClr val="C9CCF4"/>
            </a:solidFill>
            <a:prstDash val="solid"/>
          </a:ln>
        </p:spPr>
      </p:sp>
      <p:sp>
        <p:nvSpPr>
          <p:cNvPr id="32" name="Text 96"/>
          <p:cNvSpPr txBox="1"/>
          <p:nvPr/>
        </p:nvSpPr>
        <p:spPr>
          <a:xfrm>
            <a:off x="6812280" y="4919472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Computer vision to identify objects and scenes for smart tagging.</a:t>
            </a:r>
            <a:endParaRPr lang="en-US" sz="1400" dirty="0"/>
          </a:p>
        </p:txBody>
      </p:sp>
      <p:sp>
        <p:nvSpPr>
          <p:cNvPr id="33" name="Text 97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Source: problem statement of the project. Privacy controls (private accounts, block, mute, restrict) are covered under Scope.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1095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3" name="Shape 98"/>
          <p:cNvSpPr/>
          <p:nvPr/>
        </p:nvSpPr>
        <p:spPr>
          <a:xfrm>
            <a:off x="548640" y="1325880"/>
            <a:ext cx="109118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4" name="Shape 99"/>
          <p:cNvSpPr/>
          <p:nvPr/>
        </p:nvSpPr>
        <p:spPr>
          <a:xfrm>
            <a:off x="731520" y="1499616"/>
            <a:ext cx="429768" cy="4297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100"/>
          <p:cNvSpPr txBox="1"/>
          <p:nvPr/>
        </p:nvSpPr>
        <p:spPr>
          <a:xfrm>
            <a:off x="731520" y="149961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101"/>
          <p:cNvSpPr txBox="1"/>
          <p:nvPr/>
        </p:nvSpPr>
        <p:spPr>
          <a:xfrm>
            <a:off x="1371600" y="1352257"/>
            <a:ext cx="5600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Develop a full-featured social media web application.</a:t>
            </a:r>
            <a:endParaRPr lang="en-US" sz="1500" dirty="0"/>
          </a:p>
        </p:txBody>
      </p:sp>
      <p:sp>
        <p:nvSpPr>
          <p:cNvPr id="7" name="Shape 102"/>
          <p:cNvSpPr/>
          <p:nvPr/>
        </p:nvSpPr>
        <p:spPr>
          <a:xfrm>
            <a:off x="548640" y="2221992"/>
            <a:ext cx="109118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8" name="Shape 103"/>
          <p:cNvSpPr/>
          <p:nvPr/>
        </p:nvSpPr>
        <p:spPr>
          <a:xfrm>
            <a:off x="731520" y="2395728"/>
            <a:ext cx="429768" cy="4297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104"/>
          <p:cNvSpPr txBox="1"/>
          <p:nvPr/>
        </p:nvSpPr>
        <p:spPr>
          <a:xfrm>
            <a:off x="731520" y="239572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105"/>
          <p:cNvSpPr txBox="1"/>
          <p:nvPr/>
        </p:nvSpPr>
        <p:spPr>
          <a:xfrm>
            <a:off x="1371600" y="222199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Integrate NLP-based automatic caption and hashtag generation.</a:t>
            </a:r>
            <a:endParaRPr lang="en-US" sz="1500" dirty="0"/>
          </a:p>
        </p:txBody>
      </p:sp>
      <p:sp>
        <p:nvSpPr>
          <p:cNvPr id="11" name="Shape 106"/>
          <p:cNvSpPr/>
          <p:nvPr/>
        </p:nvSpPr>
        <p:spPr>
          <a:xfrm>
            <a:off x="548640" y="3118104"/>
            <a:ext cx="109118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2" name="Shape 107"/>
          <p:cNvSpPr/>
          <p:nvPr/>
        </p:nvSpPr>
        <p:spPr>
          <a:xfrm>
            <a:off x="731520" y="3291840"/>
            <a:ext cx="429768" cy="4297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8"/>
          <p:cNvSpPr txBox="1"/>
          <p:nvPr/>
        </p:nvSpPr>
        <p:spPr>
          <a:xfrm>
            <a:off x="731520" y="329184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09"/>
          <p:cNvSpPr txBox="1"/>
          <p:nvPr/>
        </p:nvSpPr>
        <p:spPr>
          <a:xfrm>
            <a:off x="1371600" y="3118104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Apply computer vision for image recognition and smart tagging.</a:t>
            </a:r>
            <a:endParaRPr lang="en-US" sz="1500" dirty="0"/>
          </a:p>
        </p:txBody>
      </p:sp>
      <p:sp>
        <p:nvSpPr>
          <p:cNvPr id="15" name="Shape 110"/>
          <p:cNvSpPr/>
          <p:nvPr/>
        </p:nvSpPr>
        <p:spPr>
          <a:xfrm>
            <a:off x="548640" y="4014216"/>
            <a:ext cx="109118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6" name="Shape 111"/>
          <p:cNvSpPr/>
          <p:nvPr/>
        </p:nvSpPr>
        <p:spPr>
          <a:xfrm>
            <a:off x="731520" y="4187952"/>
            <a:ext cx="429768" cy="4297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12"/>
          <p:cNvSpPr txBox="1"/>
          <p:nvPr/>
        </p:nvSpPr>
        <p:spPr>
          <a:xfrm>
            <a:off x="731520" y="418795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13"/>
          <p:cNvSpPr txBox="1"/>
          <p:nvPr/>
        </p:nvSpPr>
        <p:spPr>
          <a:xfrm>
            <a:off x="1371600" y="4014216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Build an ML-based personalized content recommendation engine.</a:t>
            </a:r>
            <a:endParaRPr lang="en-US" sz="1500" dirty="0"/>
          </a:p>
        </p:txBody>
      </p:sp>
      <p:sp>
        <p:nvSpPr>
          <p:cNvPr id="19" name="Shape 114"/>
          <p:cNvSpPr/>
          <p:nvPr/>
        </p:nvSpPr>
        <p:spPr>
          <a:xfrm>
            <a:off x="548640" y="4910328"/>
            <a:ext cx="1088136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20" name="Shape 115"/>
          <p:cNvSpPr/>
          <p:nvPr/>
        </p:nvSpPr>
        <p:spPr>
          <a:xfrm>
            <a:off x="731520" y="5084064"/>
            <a:ext cx="429768" cy="4297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16"/>
          <p:cNvSpPr txBox="1"/>
          <p:nvPr/>
        </p:nvSpPr>
        <p:spPr>
          <a:xfrm>
            <a:off x="731520" y="508406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117"/>
          <p:cNvSpPr txBox="1"/>
          <p:nvPr/>
        </p:nvSpPr>
        <p:spPr>
          <a:xfrm>
            <a:off x="1371600" y="491032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Detect spam and fake accounts using classification models.</a:t>
            </a:r>
            <a:endParaRPr lang="en-US" sz="1500" dirty="0"/>
          </a:p>
        </p:txBody>
      </p:sp>
      <p:sp>
        <p:nvSpPr>
          <p:cNvPr id="24" name="Text 119"/>
          <p:cNvSpPr txBox="1"/>
          <p:nvPr/>
        </p:nvSpPr>
        <p:spPr>
          <a:xfrm>
            <a:off x="8046720" y="1554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2"/>
                </a:solidFill>
              </a:rPr>
              <a:t>ALSO COVERED IN SCOPE</a:t>
            </a:r>
            <a:endParaRPr lang="en-US" sz="1100" dirty="0"/>
          </a:p>
        </p:txBody>
      </p:sp>
      <p:sp>
        <p:nvSpPr>
          <p:cNvPr id="25" name="Text 120"/>
          <p:cNvSpPr txBox="1"/>
          <p:nvPr/>
        </p:nvSpPr>
        <p:spPr>
          <a:xfrm>
            <a:off x="8046720" y="1965960"/>
            <a:ext cx="3337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Private accounts, block, mute and restrict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Follow / unfollow with approval for private accounts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Direct messaging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Comment moderation and hashtag recommendation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Existing System</a:t>
            </a:r>
            <a:endParaRPr lang="en-US" sz="3200" dirty="0"/>
          </a:p>
        </p:txBody>
      </p:sp>
      <p:sp>
        <p:nvSpPr>
          <p:cNvPr id="3" name="Shape 122"/>
          <p:cNvSpPr/>
          <p:nvPr/>
        </p:nvSpPr>
        <p:spPr>
          <a:xfrm>
            <a:off x="548640" y="1371600"/>
            <a:ext cx="3593592" cy="4023360"/>
          </a:xfrm>
          <a:prstGeom prst="roundRect">
            <a:avLst>
              <a:gd name="adj" fmla="val 3053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4" name="Shape 123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5" name="Icon FaMobileAlt 124" descr="MobileAl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760220"/>
            <a:ext cx="320040" cy="320040"/>
          </a:xfrm>
          <a:prstGeom prst="rect">
            <a:avLst/>
          </a:prstGeom>
        </p:spPr>
      </p:pic>
      <p:sp>
        <p:nvSpPr>
          <p:cNvPr id="6" name="Text 125"/>
          <p:cNvSpPr txBox="1"/>
          <p:nvPr/>
        </p:nvSpPr>
        <p:spPr>
          <a:xfrm>
            <a:off x="1600200" y="16002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Basic social media apps</a:t>
            </a:r>
            <a:endParaRPr lang="en-US" sz="1700" dirty="0"/>
          </a:p>
        </p:txBody>
      </p:sp>
      <p:sp>
        <p:nvSpPr>
          <p:cNvPr id="7" name="Text 126"/>
          <p:cNvSpPr txBox="1"/>
          <p:nvPr/>
        </p:nvSpPr>
        <p:spPr>
          <a:xfrm>
            <a:off x="777240" y="251460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WHAT EXISTS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Photo and video sharing, likes, comments and follow features.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LIMITATION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 intelligence layer on top of the basic features.</a:t>
            </a:r>
            <a:endParaRPr lang="en-US" sz="1100" dirty="0"/>
          </a:p>
        </p:txBody>
      </p:sp>
      <p:sp>
        <p:nvSpPr>
          <p:cNvPr id="8" name="Shape 127"/>
          <p:cNvSpPr/>
          <p:nvPr/>
        </p:nvSpPr>
        <p:spPr>
          <a:xfrm>
            <a:off x="4297680" y="1371600"/>
            <a:ext cx="3593592" cy="4023360"/>
          </a:xfrm>
          <a:prstGeom prst="roundRect">
            <a:avLst>
              <a:gd name="adj" fmla="val 3053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9" name="Shape 128"/>
          <p:cNvSpPr/>
          <p:nvPr/>
        </p:nvSpPr>
        <p:spPr>
          <a:xfrm>
            <a:off x="4526280" y="1600200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0" name="Icon FaClock 129" descr="Clo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760220"/>
            <a:ext cx="320040" cy="320040"/>
          </a:xfrm>
          <a:prstGeom prst="rect">
            <a:avLst/>
          </a:prstGeom>
        </p:spPr>
      </p:pic>
      <p:sp>
        <p:nvSpPr>
          <p:cNvPr id="11" name="Text 130"/>
          <p:cNvSpPr txBox="1"/>
          <p:nvPr/>
        </p:nvSpPr>
        <p:spPr>
          <a:xfrm>
            <a:off x="5349240" y="16002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Fixed story duration</a:t>
            </a:r>
            <a:endParaRPr lang="en-US" sz="1700" dirty="0"/>
          </a:p>
        </p:txBody>
      </p:sp>
      <p:sp>
        <p:nvSpPr>
          <p:cNvPr id="12" name="Text 131"/>
          <p:cNvSpPr txBox="1"/>
          <p:nvPr/>
        </p:nvSpPr>
        <p:spPr>
          <a:xfrm>
            <a:off x="4526280" y="251460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WHAT EXISTS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Stories last for a strict 24-hour window.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LIMITATION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 flexibility or extended viewing for creators.</a:t>
            </a:r>
            <a:endParaRPr lang="en-US" sz="1100" dirty="0"/>
          </a:p>
        </p:txBody>
      </p:sp>
      <p:sp>
        <p:nvSpPr>
          <p:cNvPr id="13" name="Shape 132"/>
          <p:cNvSpPr/>
          <p:nvPr/>
        </p:nvSpPr>
        <p:spPr>
          <a:xfrm>
            <a:off x="8046720" y="1371600"/>
            <a:ext cx="3593592" cy="4023360"/>
          </a:xfrm>
          <a:prstGeom prst="roundRect">
            <a:avLst>
              <a:gd name="adj" fmla="val 3053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4" name="Shape 133"/>
          <p:cNvSpPr/>
          <p:nvPr/>
        </p:nvSpPr>
        <p:spPr>
          <a:xfrm>
            <a:off x="8275320" y="1600200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5" name="Icon FaTags 134" descr="Tag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340" y="1760220"/>
            <a:ext cx="320040" cy="320040"/>
          </a:xfrm>
          <a:prstGeom prst="rect">
            <a:avLst/>
          </a:prstGeom>
        </p:spPr>
      </p:pic>
      <p:sp>
        <p:nvSpPr>
          <p:cNvPr id="16" name="Text 135"/>
          <p:cNvSpPr txBox="1"/>
          <p:nvPr/>
        </p:nvSpPr>
        <p:spPr>
          <a:xfrm>
            <a:off x="9098280" y="16002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Manual captioning</a:t>
            </a:r>
            <a:endParaRPr lang="en-US" sz="1700" dirty="0"/>
          </a:p>
        </p:txBody>
      </p:sp>
      <p:sp>
        <p:nvSpPr>
          <p:cNvPr id="17" name="Text 136"/>
          <p:cNvSpPr txBox="1"/>
          <p:nvPr/>
        </p:nvSpPr>
        <p:spPr>
          <a:xfrm>
            <a:off x="8275320" y="251460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WHAT EXISTS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Users write their own captions and hashtags.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LIMITATION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 AI-assisted suggestions or auto-generation.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Proposed System</a:t>
            </a:r>
            <a:endParaRPr lang="en-US" sz="3200" dirty="0"/>
          </a:p>
        </p:txBody>
      </p:sp>
      <p:sp>
        <p:nvSpPr>
          <p:cNvPr id="3" name="Shape 139"/>
          <p:cNvSpPr/>
          <p:nvPr/>
        </p:nvSpPr>
        <p:spPr>
          <a:xfrm>
            <a:off x="548640" y="1325880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4" name="Shape 140"/>
          <p:cNvSpPr/>
          <p:nvPr/>
        </p:nvSpPr>
        <p:spPr>
          <a:xfrm>
            <a:off x="777240" y="1527048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5" name="Icon FaTags 141" descr="Tag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1652778"/>
            <a:ext cx="251460" cy="251460"/>
          </a:xfrm>
          <a:prstGeom prst="rect">
            <a:avLst/>
          </a:prstGeom>
        </p:spPr>
      </p:pic>
      <p:sp>
        <p:nvSpPr>
          <p:cNvPr id="6" name="Text 142"/>
          <p:cNvSpPr txBox="1"/>
          <p:nvPr/>
        </p:nvSpPr>
        <p:spPr>
          <a:xfrm>
            <a:off x="1463040" y="152704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 Caption &amp; Hashtag Generator</a:t>
            </a:r>
            <a:endParaRPr lang="en-US" sz="1600" dirty="0"/>
          </a:p>
        </p:txBody>
      </p:sp>
      <p:sp>
        <p:nvSpPr>
          <p:cNvPr id="7" name="Text 143"/>
          <p:cNvSpPr txBox="1"/>
          <p:nvPr/>
        </p:nvSpPr>
        <p:spPr>
          <a:xfrm>
            <a:off x="777240" y="21945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NLP-based suggestions of relevant captions and hashtags for uploaded posts.</a:t>
            </a:r>
            <a:endParaRPr lang="en-US" sz="1300" dirty="0"/>
          </a:p>
        </p:txBody>
      </p:sp>
      <p:sp>
        <p:nvSpPr>
          <p:cNvPr id="8" name="Shape 144"/>
          <p:cNvSpPr/>
          <p:nvPr/>
        </p:nvSpPr>
        <p:spPr>
          <a:xfrm>
            <a:off x="6126480" y="1325880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9" name="Shape 145"/>
          <p:cNvSpPr/>
          <p:nvPr/>
        </p:nvSpPr>
        <p:spPr>
          <a:xfrm>
            <a:off x="6355080" y="1527048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0" name="Icon FaEye 146" descr="Ey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810" y="1652778"/>
            <a:ext cx="251460" cy="251460"/>
          </a:xfrm>
          <a:prstGeom prst="rect">
            <a:avLst/>
          </a:prstGeom>
        </p:spPr>
      </p:pic>
      <p:sp>
        <p:nvSpPr>
          <p:cNvPr id="11" name="Text 147"/>
          <p:cNvSpPr txBox="1"/>
          <p:nvPr/>
        </p:nvSpPr>
        <p:spPr>
          <a:xfrm>
            <a:off x="7040880" y="152704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Image Recognition</a:t>
            </a:r>
            <a:endParaRPr lang="en-US" sz="1600" dirty="0"/>
          </a:p>
        </p:txBody>
      </p:sp>
      <p:sp>
        <p:nvSpPr>
          <p:cNvPr id="12" name="Text 148"/>
          <p:cNvSpPr txBox="1"/>
          <p:nvPr/>
        </p:nvSpPr>
        <p:spPr>
          <a:xfrm>
            <a:off x="6355080" y="21945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Computer vision identifies objects and scenes for smart auto-tagging.</a:t>
            </a:r>
            <a:endParaRPr lang="en-US" sz="1300" dirty="0"/>
          </a:p>
        </p:txBody>
      </p:sp>
      <p:sp>
        <p:nvSpPr>
          <p:cNvPr id="13" name="Shape 149"/>
          <p:cNvSpPr/>
          <p:nvPr/>
        </p:nvSpPr>
        <p:spPr>
          <a:xfrm>
            <a:off x="548640" y="2926080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4" name="Shape 150"/>
          <p:cNvSpPr/>
          <p:nvPr/>
        </p:nvSpPr>
        <p:spPr>
          <a:xfrm>
            <a:off x="777240" y="3127248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5" name="Icon FaShieldAlt 151" descr="ShieldAl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" y="3252978"/>
            <a:ext cx="251460" cy="251460"/>
          </a:xfrm>
          <a:prstGeom prst="rect">
            <a:avLst/>
          </a:prstGeom>
        </p:spPr>
      </p:pic>
      <p:sp>
        <p:nvSpPr>
          <p:cNvPr id="16" name="Text 152"/>
          <p:cNvSpPr txBox="1"/>
          <p:nvPr/>
        </p:nvSpPr>
        <p:spPr>
          <a:xfrm>
            <a:off x="1463040" y="312724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Spam &amp; Fake Account Detection</a:t>
            </a:r>
            <a:endParaRPr lang="en-US" sz="1600" dirty="0"/>
          </a:p>
        </p:txBody>
      </p:sp>
      <p:sp>
        <p:nvSpPr>
          <p:cNvPr id="17" name="Text 153"/>
          <p:cNvSpPr txBox="1"/>
          <p:nvPr/>
        </p:nvSpPr>
        <p:spPr>
          <a:xfrm>
            <a:off x="777240" y="37947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An ML classifier detects bots and suspicious accounts.</a:t>
            </a:r>
            <a:endParaRPr lang="en-US" sz="1300" dirty="0"/>
          </a:p>
        </p:txBody>
      </p:sp>
      <p:sp>
        <p:nvSpPr>
          <p:cNvPr id="18" name="Shape 154"/>
          <p:cNvSpPr/>
          <p:nvPr/>
        </p:nvSpPr>
        <p:spPr>
          <a:xfrm>
            <a:off x="6126480" y="2926080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9" name="Shape 155"/>
          <p:cNvSpPr/>
          <p:nvPr/>
        </p:nvSpPr>
        <p:spPr>
          <a:xfrm>
            <a:off x="6355080" y="3127248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0" name="Icon FaBook 156" descr="Boo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0810" y="3252978"/>
            <a:ext cx="251460" cy="251460"/>
          </a:xfrm>
          <a:prstGeom prst="rect">
            <a:avLst/>
          </a:prstGeom>
        </p:spPr>
      </p:pic>
      <p:sp>
        <p:nvSpPr>
          <p:cNvPr id="21" name="Text 157"/>
          <p:cNvSpPr txBox="1"/>
          <p:nvPr/>
        </p:nvSpPr>
        <p:spPr>
          <a:xfrm>
            <a:off x="7040880" y="312724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Extended Stories</a:t>
            </a:r>
            <a:endParaRPr lang="en-US" sz="1600" dirty="0"/>
          </a:p>
        </p:txBody>
      </p:sp>
      <p:sp>
        <p:nvSpPr>
          <p:cNvPr id="22" name="Text 158"/>
          <p:cNvSpPr txBox="1"/>
          <p:nvPr/>
        </p:nvSpPr>
        <p:spPr>
          <a:xfrm>
            <a:off x="6355080" y="37947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Stories beyond 24 hours with viewer tracking and easy search.</a:t>
            </a:r>
            <a:endParaRPr lang="en-US" sz="1300" dirty="0"/>
          </a:p>
        </p:txBody>
      </p:sp>
      <p:sp>
        <p:nvSpPr>
          <p:cNvPr id="23" name="Text 159"/>
          <p:cNvSpPr txBox="1"/>
          <p:nvPr/>
        </p:nvSpPr>
        <p:spPr>
          <a:xfrm>
            <a:off x="54864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Scope of the Project</a:t>
            </a:r>
            <a:endParaRPr lang="en-US" sz="3200" dirty="0"/>
          </a:p>
        </p:txBody>
      </p:sp>
      <p:sp>
        <p:nvSpPr>
          <p:cNvPr id="3" name="Shape 176"/>
          <p:cNvSpPr/>
          <p:nvPr/>
        </p:nvSpPr>
        <p:spPr>
          <a:xfrm>
            <a:off x="548640" y="1325880"/>
            <a:ext cx="3593592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4" name="Shape 177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5" name="Icon FaUser 178" descr="Us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45920"/>
            <a:ext cx="274320" cy="274320"/>
          </a:xfrm>
          <a:prstGeom prst="rect">
            <a:avLst/>
          </a:prstGeom>
        </p:spPr>
      </p:pic>
      <p:sp>
        <p:nvSpPr>
          <p:cNvPr id="6" name="Text 179"/>
          <p:cNvSpPr txBox="1"/>
          <p:nvPr/>
        </p:nvSpPr>
        <p:spPr>
          <a:xfrm>
            <a:off x="1508760" y="1508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User Features</a:t>
            </a:r>
            <a:endParaRPr lang="en-US" sz="1700" dirty="0"/>
          </a:p>
        </p:txBody>
      </p:sp>
      <p:sp>
        <p:nvSpPr>
          <p:cNvPr id="7" name="Text 180"/>
          <p:cNvSpPr txBox="1"/>
          <p:nvPr/>
        </p:nvSpPr>
        <p:spPr>
          <a:xfrm>
            <a:off x="777240" y="224028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Register, login, logout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Profiles and posts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Stories and reels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Search and explore</a:t>
            </a:r>
            <a:endParaRPr lang="en-US" sz="1300" dirty="0"/>
          </a:p>
        </p:txBody>
      </p:sp>
      <p:sp>
        <p:nvSpPr>
          <p:cNvPr id="8" name="Shape 181"/>
          <p:cNvSpPr/>
          <p:nvPr/>
        </p:nvSpPr>
        <p:spPr>
          <a:xfrm>
            <a:off x="4297680" y="1325880"/>
            <a:ext cx="3593592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9" name="Shape 182"/>
          <p:cNvSpPr/>
          <p:nvPr/>
        </p:nvSpPr>
        <p:spPr>
          <a:xfrm>
            <a:off x="4526280" y="150876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0" name="Icon FaUserFriends 183" descr="UserFriend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645920"/>
            <a:ext cx="274320" cy="274320"/>
          </a:xfrm>
          <a:prstGeom prst="rect">
            <a:avLst/>
          </a:prstGeom>
        </p:spPr>
      </p:pic>
      <p:sp>
        <p:nvSpPr>
          <p:cNvPr id="11" name="Text 184"/>
          <p:cNvSpPr txBox="1"/>
          <p:nvPr/>
        </p:nvSpPr>
        <p:spPr>
          <a:xfrm>
            <a:off x="5257800" y="1508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Social Features</a:t>
            </a:r>
            <a:endParaRPr lang="en-US" sz="1700" dirty="0"/>
          </a:p>
        </p:txBody>
      </p:sp>
      <p:sp>
        <p:nvSpPr>
          <p:cNvPr id="12" name="Text 185"/>
          <p:cNvSpPr txBox="1"/>
          <p:nvPr/>
        </p:nvSpPr>
        <p:spPr>
          <a:xfrm>
            <a:off x="4526280" y="224028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Follow / unfollow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Approval for private accounts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Likes, comments, saves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Direct messaging</a:t>
            </a:r>
            <a:endParaRPr lang="en-US" sz="1300" dirty="0"/>
          </a:p>
        </p:txBody>
      </p:sp>
      <p:sp>
        <p:nvSpPr>
          <p:cNvPr id="13" name="Shape 186"/>
          <p:cNvSpPr/>
          <p:nvPr/>
        </p:nvSpPr>
        <p:spPr>
          <a:xfrm>
            <a:off x="8046720" y="1325880"/>
            <a:ext cx="3593592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4" name="Shape 187"/>
          <p:cNvSpPr/>
          <p:nvPr/>
        </p:nvSpPr>
        <p:spPr>
          <a:xfrm>
            <a:off x="8275320" y="150876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5" name="Icon FaMagic 188" descr="Magic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645920"/>
            <a:ext cx="274320" cy="274320"/>
          </a:xfrm>
          <a:prstGeom prst="rect">
            <a:avLst/>
          </a:prstGeom>
        </p:spPr>
      </p:pic>
      <p:sp>
        <p:nvSpPr>
          <p:cNvPr id="16" name="Text 189"/>
          <p:cNvSpPr txBox="1"/>
          <p:nvPr/>
        </p:nvSpPr>
        <p:spPr>
          <a:xfrm>
            <a:off x="9006840" y="1508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AI Features</a:t>
            </a:r>
            <a:endParaRPr lang="en-US" sz="1700" dirty="0"/>
          </a:p>
        </p:txBody>
      </p:sp>
      <p:sp>
        <p:nvSpPr>
          <p:cNvPr id="17" name="Text 190"/>
          <p:cNvSpPr txBox="1"/>
          <p:nvPr/>
        </p:nvSpPr>
        <p:spPr>
          <a:xfrm>
            <a:off x="8275320" y="224028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Caption and hashtag suggestions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Image recognition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Bilingual, places, mood feed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Comment moderation</a:t>
            </a:r>
            <a:endParaRPr lang="en-US" sz="1300" dirty="0"/>
          </a:p>
        </p:txBody>
      </p:sp>
      <p:sp>
        <p:nvSpPr>
          <p:cNvPr id="18" name="Shape 191"/>
          <p:cNvSpPr/>
          <p:nvPr/>
        </p:nvSpPr>
        <p:spPr>
          <a:xfrm>
            <a:off x="548640" y="3794760"/>
            <a:ext cx="3593592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9" name="Shape 192"/>
          <p:cNvSpPr/>
          <p:nvPr/>
        </p:nvSpPr>
        <p:spPr>
          <a:xfrm>
            <a:off x="777240" y="397764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0" name="Icon FaUserLock 193" descr="UserLoc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114800"/>
            <a:ext cx="274320" cy="274320"/>
          </a:xfrm>
          <a:prstGeom prst="rect">
            <a:avLst/>
          </a:prstGeom>
        </p:spPr>
      </p:pic>
      <p:sp>
        <p:nvSpPr>
          <p:cNvPr id="21" name="Text 194"/>
          <p:cNvSpPr txBox="1"/>
          <p:nvPr/>
        </p:nvSpPr>
        <p:spPr>
          <a:xfrm>
            <a:off x="1508760" y="39776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Privacy &amp; Safety</a:t>
            </a:r>
            <a:endParaRPr lang="en-US" sz="1700" dirty="0"/>
          </a:p>
        </p:txBody>
      </p:sp>
      <p:sp>
        <p:nvSpPr>
          <p:cNvPr id="22" name="Text 195"/>
          <p:cNvSpPr txBox="1"/>
          <p:nvPr/>
        </p:nvSpPr>
        <p:spPr>
          <a:xfrm>
            <a:off x="777240" y="470916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Private accounts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Block, mute, restrict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Report, not interested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Toxicity filter</a:t>
            </a:r>
            <a:endParaRPr lang="en-US" sz="1300" dirty="0"/>
          </a:p>
        </p:txBody>
      </p:sp>
      <p:sp>
        <p:nvSpPr>
          <p:cNvPr id="23" name="Shape 196"/>
          <p:cNvSpPr/>
          <p:nvPr/>
        </p:nvSpPr>
        <p:spPr>
          <a:xfrm>
            <a:off x="4297680" y="3794760"/>
            <a:ext cx="3593592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24" name="Shape 197"/>
          <p:cNvSpPr/>
          <p:nvPr/>
        </p:nvSpPr>
        <p:spPr>
          <a:xfrm>
            <a:off x="4526280" y="397764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5" name="Icon FaToggleOn 198" descr="ToggleOn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4114800"/>
            <a:ext cx="274320" cy="274320"/>
          </a:xfrm>
          <a:prstGeom prst="rect">
            <a:avLst/>
          </a:prstGeom>
        </p:spPr>
      </p:pic>
      <p:sp>
        <p:nvSpPr>
          <p:cNvPr id="26" name="Text 199"/>
          <p:cNvSpPr txBox="1"/>
          <p:nvPr/>
        </p:nvSpPr>
        <p:spPr>
          <a:xfrm>
            <a:off x="5257800" y="39776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Administration</a:t>
            </a:r>
            <a:endParaRPr lang="en-US" sz="1700" dirty="0"/>
          </a:p>
        </p:txBody>
      </p:sp>
      <p:sp>
        <p:nvSpPr>
          <p:cNvPr id="27" name="Text 200"/>
          <p:cNvSpPr txBox="1"/>
          <p:nvPr/>
        </p:nvSpPr>
        <p:spPr>
          <a:xfrm>
            <a:off x="4526280" y="470916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User management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Feature flags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Reports and analytics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System settings</a:t>
            </a:r>
            <a:endParaRPr lang="en-US" sz="1300" dirty="0"/>
          </a:p>
        </p:txBody>
      </p:sp>
      <p:sp>
        <p:nvSpPr>
          <p:cNvPr id="28" name="Shape 201"/>
          <p:cNvSpPr/>
          <p:nvPr/>
        </p:nvSpPr>
        <p:spPr>
          <a:xfrm>
            <a:off x="8046720" y="3794760"/>
            <a:ext cx="3593592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29" name="Shape 202"/>
          <p:cNvSpPr/>
          <p:nvPr/>
        </p:nvSpPr>
        <p:spPr>
          <a:xfrm>
            <a:off x="8275320" y="397764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0" name="Icon FaServer 203" descr="Server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4114800"/>
            <a:ext cx="274320" cy="274320"/>
          </a:xfrm>
          <a:prstGeom prst="rect">
            <a:avLst/>
          </a:prstGeom>
        </p:spPr>
      </p:pic>
      <p:sp>
        <p:nvSpPr>
          <p:cNvPr id="31" name="Text 204"/>
          <p:cNvSpPr txBox="1"/>
          <p:nvPr/>
        </p:nvSpPr>
        <p:spPr>
          <a:xfrm>
            <a:off x="9006840" y="39776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Deployment</a:t>
            </a:r>
            <a:endParaRPr lang="en-US" sz="1700" dirty="0"/>
          </a:p>
        </p:txBody>
      </p:sp>
      <p:sp>
        <p:nvSpPr>
          <p:cNvPr id="32" name="Text 205"/>
          <p:cNvSpPr txBox="1"/>
          <p:nvPr/>
        </p:nvSpPr>
        <p:spPr>
          <a:xfrm>
            <a:off x="8275320" y="470916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Flask web application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SQLite database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Open-source tools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Minimal hosting cost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Literature Review</a:t>
            </a:r>
            <a:endParaRPr lang="en-US" sz="3200" dirty="0"/>
          </a:p>
        </p:txBody>
      </p:sp>
      <p:graphicFrame>
        <p:nvGraphicFramePr>
          <p:cNvPr id="10" name="Liter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4654296"/>
        </p:xfrm>
        <a:graphic>
          <a:graphicData uri="http://schemas.openxmlformats.org/drawingml/2006/table">
            <a:tbl>
              <a:tblPr/>
              <a:tblGrid>
                <a:gridCol w="333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Title &amp; Year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Author &amp; Publication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Algorithm Used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Method / Feature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Performance Metric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Result / Findings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[1] Automated Image Captioning (2020)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A. Puscasiu et al.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CNN + RNN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Transfer learning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BLEU, METEOR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Accurate image captions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[2] Image Captioning: A Survey (2020)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H. Sharma et al.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Deep learning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Survey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Analysis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Reviews recent methods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[3] BLIP (2022)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J. Li et al.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BLIP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Vision + language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CIDEr, BLEU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Better caption quality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[4] Deep Learning Approaches on Image Captioning: A Review (2022)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T. Ghandi et al.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Deep learning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Review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BLEU, CIDEr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Summarizes modern models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[5] Review of Transformer-Based Image Captioning Models (2023)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O. Ondeng et al.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Transformer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Review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BLEU, CIDEr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Strong performance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[6] Image Captioning by Diffusion Models: A Survey (2024)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F. Daneshfar et al.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Diffusion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Survey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BLEU, CIDEr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Latest captioning approaches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[7] Attention-Based Transformer Models for Multilingual Image Captioning (2025)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I. Albadarneh et al.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Attention transformer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Multilingual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BLEU, ROUGE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Better context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[8] Next-Generation Image Captioning: A Systematic Review (2026)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M. Al-Malla et al.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Vision-language models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Systematic review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BLEU, CIDEr, SPICE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Future of image captioning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206"/>
          <p:cNvSpPr txBox="1"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Technologies Used</a:t>
            </a:r>
            <a:endParaRPr lang="en-US" sz="3200" dirty="0"/>
          </a:p>
        </p:txBody>
      </p:sp>
      <p:sp>
        <p:nvSpPr>
          <p:cNvPr id="3" name="Shape 207"/>
          <p:cNvSpPr/>
          <p:nvPr/>
        </p:nvSpPr>
        <p:spPr>
          <a:xfrm>
            <a:off x="548640" y="137160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4" name="Shape 208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5" name="Icon FaGlobe 209" descr="Glob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6" name="Text 210"/>
          <p:cNvSpPr txBox="1"/>
          <p:nvPr/>
        </p:nvSpPr>
        <p:spPr>
          <a:xfrm>
            <a:off x="1508760" y="1600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Frontend</a:t>
            </a:r>
            <a:endParaRPr lang="en-US" sz="1800" dirty="0"/>
          </a:p>
        </p:txBody>
      </p:sp>
      <p:sp>
        <p:nvSpPr>
          <p:cNvPr id="7" name="Shape 211"/>
          <p:cNvSpPr/>
          <p:nvPr/>
        </p:nvSpPr>
        <p:spPr>
          <a:xfrm>
            <a:off x="777240" y="2423160"/>
            <a:ext cx="822960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C9CCF4"/>
            </a:solidFill>
            <a:prstDash val="solid"/>
          </a:ln>
        </p:spPr>
      </p:sp>
      <p:sp>
        <p:nvSpPr>
          <p:cNvPr id="8" name="Text 212"/>
          <p:cNvSpPr txBox="1"/>
          <p:nvPr/>
        </p:nvSpPr>
        <p:spPr>
          <a:xfrm>
            <a:off x="777240" y="24231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HTML</a:t>
            </a:r>
            <a:endParaRPr lang="en-US" sz="1300" dirty="0"/>
          </a:p>
        </p:txBody>
      </p:sp>
      <p:sp>
        <p:nvSpPr>
          <p:cNvPr id="9" name="Shape 213"/>
          <p:cNvSpPr/>
          <p:nvPr/>
        </p:nvSpPr>
        <p:spPr>
          <a:xfrm>
            <a:off x="1709928" y="2423160"/>
            <a:ext cx="822960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C9CCF4"/>
            </a:solidFill>
            <a:prstDash val="solid"/>
          </a:ln>
        </p:spPr>
      </p:sp>
      <p:sp>
        <p:nvSpPr>
          <p:cNvPr id="10" name="Text 214"/>
          <p:cNvSpPr txBox="1"/>
          <p:nvPr/>
        </p:nvSpPr>
        <p:spPr>
          <a:xfrm>
            <a:off x="1709928" y="24231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CSS</a:t>
            </a:r>
            <a:endParaRPr lang="en-US" sz="1300" dirty="0"/>
          </a:p>
        </p:txBody>
      </p:sp>
      <p:sp>
        <p:nvSpPr>
          <p:cNvPr id="11" name="Shape 215"/>
          <p:cNvSpPr/>
          <p:nvPr/>
        </p:nvSpPr>
        <p:spPr>
          <a:xfrm>
            <a:off x="777240" y="2862072"/>
            <a:ext cx="1371600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C9CCF4"/>
            </a:solidFill>
            <a:prstDash val="solid"/>
          </a:ln>
        </p:spPr>
      </p:sp>
      <p:sp>
        <p:nvSpPr>
          <p:cNvPr id="12" name="Text 216"/>
          <p:cNvSpPr txBox="1"/>
          <p:nvPr/>
        </p:nvSpPr>
        <p:spPr>
          <a:xfrm>
            <a:off x="777240" y="28620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JavaScript</a:t>
            </a:r>
            <a:endParaRPr lang="en-US" sz="1300" dirty="0"/>
          </a:p>
        </p:txBody>
      </p:sp>
      <p:sp>
        <p:nvSpPr>
          <p:cNvPr id="13" name="Shape 217"/>
          <p:cNvSpPr/>
          <p:nvPr/>
        </p:nvSpPr>
        <p:spPr>
          <a:xfrm>
            <a:off x="2258568" y="2862072"/>
            <a:ext cx="1271016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C9CCF4"/>
            </a:solidFill>
            <a:prstDash val="solid"/>
          </a:ln>
        </p:spPr>
      </p:sp>
      <p:sp>
        <p:nvSpPr>
          <p:cNvPr id="14" name="Text 218"/>
          <p:cNvSpPr txBox="1"/>
          <p:nvPr/>
        </p:nvSpPr>
        <p:spPr>
          <a:xfrm>
            <a:off x="2258568" y="2862072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Bootstrap</a:t>
            </a:r>
            <a:endParaRPr lang="en-US" sz="1300" dirty="0"/>
          </a:p>
        </p:txBody>
      </p:sp>
      <p:sp>
        <p:nvSpPr>
          <p:cNvPr id="15" name="Shape 219"/>
          <p:cNvSpPr/>
          <p:nvPr/>
        </p:nvSpPr>
        <p:spPr>
          <a:xfrm>
            <a:off x="4297680" y="137160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6" name="Shape 220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7" name="Icon FaServer 221" descr="Serve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737360"/>
            <a:ext cx="274320" cy="274320"/>
          </a:xfrm>
          <a:prstGeom prst="rect">
            <a:avLst/>
          </a:prstGeom>
        </p:spPr>
      </p:pic>
      <p:sp>
        <p:nvSpPr>
          <p:cNvPr id="18" name="Text 222"/>
          <p:cNvSpPr txBox="1"/>
          <p:nvPr/>
        </p:nvSpPr>
        <p:spPr>
          <a:xfrm>
            <a:off x="5257800" y="1600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Backend</a:t>
            </a:r>
            <a:endParaRPr lang="en-US" sz="1800" dirty="0"/>
          </a:p>
        </p:txBody>
      </p:sp>
      <p:sp>
        <p:nvSpPr>
          <p:cNvPr id="19" name="Shape 223"/>
          <p:cNvSpPr/>
          <p:nvPr/>
        </p:nvSpPr>
        <p:spPr>
          <a:xfrm>
            <a:off x="4526280" y="2423160"/>
            <a:ext cx="969264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C9CCF4"/>
            </a:solidFill>
            <a:prstDash val="solid"/>
          </a:ln>
        </p:spPr>
      </p:sp>
      <p:sp>
        <p:nvSpPr>
          <p:cNvPr id="20" name="Text 224"/>
          <p:cNvSpPr txBox="1"/>
          <p:nvPr/>
        </p:nvSpPr>
        <p:spPr>
          <a:xfrm>
            <a:off x="4526280" y="24231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Python</a:t>
            </a:r>
            <a:endParaRPr lang="en-US" sz="1300" dirty="0"/>
          </a:p>
        </p:txBody>
      </p:sp>
      <p:sp>
        <p:nvSpPr>
          <p:cNvPr id="21" name="Shape 225"/>
          <p:cNvSpPr/>
          <p:nvPr/>
        </p:nvSpPr>
        <p:spPr>
          <a:xfrm>
            <a:off x="5605272" y="2423160"/>
            <a:ext cx="868680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C9CCF4"/>
            </a:solidFill>
            <a:prstDash val="solid"/>
          </a:ln>
        </p:spPr>
      </p:sp>
      <p:sp>
        <p:nvSpPr>
          <p:cNvPr id="22" name="Text 226"/>
          <p:cNvSpPr txBox="1"/>
          <p:nvPr/>
        </p:nvSpPr>
        <p:spPr>
          <a:xfrm>
            <a:off x="5605272" y="242316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Flask</a:t>
            </a:r>
            <a:endParaRPr lang="en-US" sz="1300" dirty="0"/>
          </a:p>
        </p:txBody>
      </p:sp>
      <p:sp>
        <p:nvSpPr>
          <p:cNvPr id="23" name="Shape 227"/>
          <p:cNvSpPr/>
          <p:nvPr/>
        </p:nvSpPr>
        <p:spPr>
          <a:xfrm>
            <a:off x="4526280" y="2862072"/>
            <a:ext cx="1472184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C9CCF4"/>
            </a:solidFill>
            <a:prstDash val="solid"/>
          </a:ln>
        </p:spPr>
      </p:sp>
      <p:sp>
        <p:nvSpPr>
          <p:cNvPr id="24" name="Text 228"/>
          <p:cNvSpPr txBox="1"/>
          <p:nvPr/>
        </p:nvSpPr>
        <p:spPr>
          <a:xfrm>
            <a:off x="4526280" y="286207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Flask-Login</a:t>
            </a:r>
            <a:endParaRPr lang="en-US" sz="1300" dirty="0"/>
          </a:p>
        </p:txBody>
      </p:sp>
      <p:sp>
        <p:nvSpPr>
          <p:cNvPr id="25" name="Shape 229"/>
          <p:cNvSpPr/>
          <p:nvPr/>
        </p:nvSpPr>
        <p:spPr>
          <a:xfrm>
            <a:off x="8046720" y="137160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26" name="Shape 230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7" name="Icon FaDatabase 231" descr="Databas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737360"/>
            <a:ext cx="274320" cy="274320"/>
          </a:xfrm>
          <a:prstGeom prst="rect">
            <a:avLst/>
          </a:prstGeom>
        </p:spPr>
      </p:pic>
      <p:sp>
        <p:nvSpPr>
          <p:cNvPr id="28" name="Text 232"/>
          <p:cNvSpPr txBox="1"/>
          <p:nvPr/>
        </p:nvSpPr>
        <p:spPr>
          <a:xfrm>
            <a:off x="9006840" y="1600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Database</a:t>
            </a:r>
            <a:endParaRPr lang="en-US" sz="1800" dirty="0"/>
          </a:p>
        </p:txBody>
      </p:sp>
      <p:sp>
        <p:nvSpPr>
          <p:cNvPr id="29" name="Shape 233"/>
          <p:cNvSpPr/>
          <p:nvPr/>
        </p:nvSpPr>
        <p:spPr>
          <a:xfrm>
            <a:off x="8275320" y="2423160"/>
            <a:ext cx="969264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C9CCF4"/>
            </a:solidFill>
            <a:prstDash val="solid"/>
          </a:ln>
        </p:spPr>
      </p:sp>
      <p:sp>
        <p:nvSpPr>
          <p:cNvPr id="30" name="Text 234"/>
          <p:cNvSpPr txBox="1"/>
          <p:nvPr/>
        </p:nvSpPr>
        <p:spPr>
          <a:xfrm>
            <a:off x="8275320" y="24231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SQLite</a:t>
            </a:r>
            <a:endParaRPr lang="en-US" sz="1300" dirty="0"/>
          </a:p>
        </p:txBody>
      </p:sp>
      <p:sp>
        <p:nvSpPr>
          <p:cNvPr id="31" name="Shape 235"/>
          <p:cNvSpPr/>
          <p:nvPr/>
        </p:nvSpPr>
        <p:spPr>
          <a:xfrm>
            <a:off x="548640" y="393192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32" name="Shape 236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3" name="Icon FaBrain 237" descr="Brain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97680"/>
            <a:ext cx="274320" cy="274320"/>
          </a:xfrm>
          <a:prstGeom prst="rect">
            <a:avLst/>
          </a:prstGeom>
        </p:spPr>
      </p:pic>
      <p:sp>
        <p:nvSpPr>
          <p:cNvPr id="34" name="Text 238"/>
          <p:cNvSpPr txBox="1"/>
          <p:nvPr/>
        </p:nvSpPr>
        <p:spPr>
          <a:xfrm>
            <a:off x="1508760" y="4160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 / ML</a:t>
            </a:r>
            <a:endParaRPr lang="en-US" sz="1800" dirty="0"/>
          </a:p>
        </p:txBody>
      </p:sp>
      <p:sp>
        <p:nvSpPr>
          <p:cNvPr id="35" name="Shape 239"/>
          <p:cNvSpPr/>
          <p:nvPr/>
        </p:nvSpPr>
        <p:spPr>
          <a:xfrm>
            <a:off x="777240" y="4983480"/>
            <a:ext cx="1069848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C9CCF4"/>
            </a:solidFill>
            <a:prstDash val="solid"/>
          </a:ln>
        </p:spPr>
      </p:sp>
      <p:sp>
        <p:nvSpPr>
          <p:cNvPr id="36" name="Text 240"/>
          <p:cNvSpPr txBox="1"/>
          <p:nvPr/>
        </p:nvSpPr>
        <p:spPr>
          <a:xfrm>
            <a:off x="777240" y="4983480"/>
            <a:ext cx="1069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PyTorch</a:t>
            </a:r>
            <a:endParaRPr lang="en-US" sz="1300" dirty="0"/>
          </a:p>
        </p:txBody>
      </p:sp>
      <p:sp>
        <p:nvSpPr>
          <p:cNvPr id="37" name="Shape 241"/>
          <p:cNvSpPr/>
          <p:nvPr/>
        </p:nvSpPr>
        <p:spPr>
          <a:xfrm>
            <a:off x="1956816" y="4983480"/>
            <a:ext cx="969264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C9CCF4"/>
            </a:solidFill>
            <a:prstDash val="solid"/>
          </a:ln>
        </p:spPr>
      </p:sp>
      <p:sp>
        <p:nvSpPr>
          <p:cNvPr id="38" name="Text 242"/>
          <p:cNvSpPr txBox="1"/>
          <p:nvPr/>
        </p:nvSpPr>
        <p:spPr>
          <a:xfrm>
            <a:off x="1956816" y="498348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OpenCV</a:t>
            </a:r>
            <a:endParaRPr lang="en-US" sz="1300" dirty="0"/>
          </a:p>
        </p:txBody>
      </p:sp>
      <p:sp>
        <p:nvSpPr>
          <p:cNvPr id="39" name="Shape 243"/>
          <p:cNvSpPr/>
          <p:nvPr/>
        </p:nvSpPr>
        <p:spPr>
          <a:xfrm>
            <a:off x="3035808" y="4983480"/>
            <a:ext cx="822960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C9CCF4"/>
            </a:solidFill>
            <a:prstDash val="solid"/>
          </a:ln>
        </p:spPr>
      </p:sp>
      <p:sp>
        <p:nvSpPr>
          <p:cNvPr id="40" name="Text 244"/>
          <p:cNvSpPr txBox="1"/>
          <p:nvPr/>
        </p:nvSpPr>
        <p:spPr>
          <a:xfrm>
            <a:off x="3035808" y="49834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BLIP</a:t>
            </a:r>
            <a:endParaRPr lang="en-US" sz="1300" dirty="0"/>
          </a:p>
        </p:txBody>
      </p:sp>
      <p:sp>
        <p:nvSpPr>
          <p:cNvPr id="41" name="Shape 245"/>
          <p:cNvSpPr/>
          <p:nvPr/>
        </p:nvSpPr>
        <p:spPr>
          <a:xfrm>
            <a:off x="4297680" y="393192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42" name="Shape 246"/>
          <p:cNvSpPr/>
          <p:nvPr/>
        </p:nvSpPr>
        <p:spPr>
          <a:xfrm>
            <a:off x="4526280" y="416052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43" name="Icon FaTools 247" descr="Tool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4297680"/>
            <a:ext cx="274320" cy="274320"/>
          </a:xfrm>
          <a:prstGeom prst="rect">
            <a:avLst/>
          </a:prstGeom>
        </p:spPr>
      </p:pic>
      <p:sp>
        <p:nvSpPr>
          <p:cNvPr id="44" name="Text 248"/>
          <p:cNvSpPr txBox="1"/>
          <p:nvPr/>
        </p:nvSpPr>
        <p:spPr>
          <a:xfrm>
            <a:off x="5257800" y="4160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Tools</a:t>
            </a:r>
            <a:endParaRPr lang="en-US" sz="1800" dirty="0"/>
          </a:p>
        </p:txBody>
      </p:sp>
      <p:sp>
        <p:nvSpPr>
          <p:cNvPr id="45" name="Shape 249"/>
          <p:cNvSpPr/>
          <p:nvPr/>
        </p:nvSpPr>
        <p:spPr>
          <a:xfrm>
            <a:off x="4526280" y="4983480"/>
            <a:ext cx="1069848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C9CCF4"/>
            </a:solidFill>
            <a:prstDash val="solid"/>
          </a:ln>
        </p:spPr>
      </p:sp>
      <p:sp>
        <p:nvSpPr>
          <p:cNvPr id="46" name="Text 250"/>
          <p:cNvSpPr txBox="1"/>
          <p:nvPr/>
        </p:nvSpPr>
        <p:spPr>
          <a:xfrm>
            <a:off x="4526280" y="4983480"/>
            <a:ext cx="1069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VS Code</a:t>
            </a:r>
            <a:endParaRPr lang="en-US" sz="1300" dirty="0"/>
          </a:p>
        </p:txBody>
      </p:sp>
      <p:sp>
        <p:nvSpPr>
          <p:cNvPr id="47" name="Shape 251"/>
          <p:cNvSpPr/>
          <p:nvPr/>
        </p:nvSpPr>
        <p:spPr>
          <a:xfrm>
            <a:off x="5705856" y="4983480"/>
            <a:ext cx="969264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C9CCF4"/>
            </a:solidFill>
            <a:prstDash val="solid"/>
          </a:ln>
        </p:spPr>
      </p:sp>
      <p:sp>
        <p:nvSpPr>
          <p:cNvPr id="48" name="Text 252"/>
          <p:cNvSpPr txBox="1"/>
          <p:nvPr/>
        </p:nvSpPr>
        <p:spPr>
          <a:xfrm>
            <a:off x="5705856" y="498348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GitHub</a:t>
            </a:r>
            <a:endParaRPr lang="en-US" sz="13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Software &amp; Hardware Requirements</a:t>
            </a:r>
            <a:endParaRPr lang="en-US" sz="3200" dirty="0"/>
          </a:p>
        </p:txBody>
      </p:sp>
      <p:sp>
        <p:nvSpPr>
          <p:cNvPr id="3" name="Shape 255"/>
          <p:cNvSpPr/>
          <p:nvPr/>
        </p:nvSpPr>
        <p:spPr>
          <a:xfrm>
            <a:off x="548640" y="1325880"/>
            <a:ext cx="5440680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4" name="Text 256"/>
          <p:cNvSpPr txBox="1"/>
          <p:nvPr/>
        </p:nvSpPr>
        <p:spPr>
          <a:xfrm>
            <a:off x="8229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Software Requirements</a:t>
            </a:r>
            <a:endParaRPr lang="en-US" sz="1800" dirty="0"/>
          </a:p>
        </p:txBody>
      </p:sp>
      <p:sp>
        <p:nvSpPr>
          <p:cNvPr id="5" name="Shape 257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6" name="Icon FaDesktop 258" descr="Deskto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171700"/>
            <a:ext cx="228600" cy="228600"/>
          </a:xfrm>
          <a:prstGeom prst="rect">
            <a:avLst/>
          </a:prstGeom>
        </p:spPr>
      </p:pic>
      <p:sp>
        <p:nvSpPr>
          <p:cNvPr id="7" name="Text 259"/>
          <p:cNvSpPr txBox="1"/>
          <p:nvPr/>
        </p:nvSpPr>
        <p:spPr>
          <a:xfrm>
            <a:off x="1463040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Operating System</a:t>
            </a:r>
            <a:endParaRPr lang="en-US" sz="1300" dirty="0"/>
          </a:p>
        </p:txBody>
      </p:sp>
      <p:sp>
        <p:nvSpPr>
          <p:cNvPr id="8" name="Text 260"/>
          <p:cNvSpPr txBox="1"/>
          <p:nvPr/>
        </p:nvSpPr>
        <p:spPr>
          <a:xfrm>
            <a:off x="2880360" y="2011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Any OS that runs Python (not specified)</a:t>
            </a:r>
            <a:endParaRPr lang="en-US" sz="1300" dirty="0"/>
          </a:p>
        </p:txBody>
      </p:sp>
      <p:sp>
        <p:nvSpPr>
          <p:cNvPr id="9" name="Shape 261"/>
          <p:cNvSpPr/>
          <p:nvPr/>
        </p:nvSpPr>
        <p:spPr>
          <a:xfrm>
            <a:off x="822960" y="269748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0" name="Icon FaPython 262" descr="Pytho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2811780"/>
            <a:ext cx="228600" cy="228600"/>
          </a:xfrm>
          <a:prstGeom prst="rect">
            <a:avLst/>
          </a:prstGeom>
        </p:spPr>
      </p:pic>
      <p:sp>
        <p:nvSpPr>
          <p:cNvPr id="11" name="Text 263"/>
          <p:cNvSpPr txBox="1"/>
          <p:nvPr/>
        </p:nvSpPr>
        <p:spPr>
          <a:xfrm>
            <a:off x="1463040" y="26517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Language</a:t>
            </a:r>
            <a:endParaRPr lang="en-US" sz="1300" dirty="0"/>
          </a:p>
        </p:txBody>
      </p:sp>
      <p:sp>
        <p:nvSpPr>
          <p:cNvPr id="12" name="Text 264"/>
          <p:cNvSpPr txBox="1"/>
          <p:nvPr/>
        </p:nvSpPr>
        <p:spPr>
          <a:xfrm>
            <a:off x="2880360" y="26517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Python (version not specified)</a:t>
            </a:r>
            <a:endParaRPr lang="en-US" sz="1300" dirty="0"/>
          </a:p>
        </p:txBody>
      </p:sp>
      <p:sp>
        <p:nvSpPr>
          <p:cNvPr id="13" name="Shape 265"/>
          <p:cNvSpPr/>
          <p:nvPr/>
        </p:nvSpPr>
        <p:spPr>
          <a:xfrm>
            <a:off x="822960" y="333756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4" name="Icon FaGlobe 266" descr="Glob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3451860"/>
            <a:ext cx="228600" cy="228600"/>
          </a:xfrm>
          <a:prstGeom prst="rect">
            <a:avLst/>
          </a:prstGeom>
        </p:spPr>
      </p:pic>
      <p:sp>
        <p:nvSpPr>
          <p:cNvPr id="15" name="Text 267"/>
          <p:cNvSpPr txBox="1"/>
          <p:nvPr/>
        </p:nvSpPr>
        <p:spPr>
          <a:xfrm>
            <a:off x="1463040" y="3291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Browser</a:t>
            </a:r>
            <a:endParaRPr lang="en-US" sz="1300" dirty="0"/>
          </a:p>
        </p:txBody>
      </p:sp>
      <p:sp>
        <p:nvSpPr>
          <p:cNvPr id="16" name="Text 268"/>
          <p:cNvSpPr txBox="1"/>
          <p:nvPr/>
        </p:nvSpPr>
        <p:spPr>
          <a:xfrm>
            <a:off x="2880360" y="3291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Modern web browser</a:t>
            </a:r>
            <a:endParaRPr lang="en-US" sz="1300" dirty="0"/>
          </a:p>
        </p:txBody>
      </p:sp>
      <p:sp>
        <p:nvSpPr>
          <p:cNvPr id="17" name="Shape 269"/>
          <p:cNvSpPr/>
          <p:nvPr/>
        </p:nvSpPr>
        <p:spPr>
          <a:xfrm>
            <a:off x="822960" y="397764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8" name="Icon FaLayerGroup 270" descr="LayerGroup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" y="4091940"/>
            <a:ext cx="228600" cy="228600"/>
          </a:xfrm>
          <a:prstGeom prst="rect">
            <a:avLst/>
          </a:prstGeom>
        </p:spPr>
      </p:pic>
      <p:sp>
        <p:nvSpPr>
          <p:cNvPr id="19" name="Text 271"/>
          <p:cNvSpPr txBox="1"/>
          <p:nvPr/>
        </p:nvSpPr>
        <p:spPr>
          <a:xfrm>
            <a:off x="1463040" y="39319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Frameworks</a:t>
            </a:r>
            <a:endParaRPr lang="en-US" sz="1300" dirty="0"/>
          </a:p>
        </p:txBody>
      </p:sp>
      <p:sp>
        <p:nvSpPr>
          <p:cNvPr id="20" name="Text 272"/>
          <p:cNvSpPr txBox="1"/>
          <p:nvPr/>
        </p:nvSpPr>
        <p:spPr>
          <a:xfrm>
            <a:off x="2880360" y="3931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Flask, Flask-Login, Bootstrap</a:t>
            </a:r>
            <a:endParaRPr lang="en-US" sz="1300" dirty="0"/>
          </a:p>
        </p:txBody>
      </p:sp>
      <p:sp>
        <p:nvSpPr>
          <p:cNvPr id="21" name="Shape 273"/>
          <p:cNvSpPr/>
          <p:nvPr/>
        </p:nvSpPr>
        <p:spPr>
          <a:xfrm>
            <a:off x="822960" y="461772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2" name="Icon FaBrain 274" descr="Brain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4732020"/>
            <a:ext cx="228600" cy="228600"/>
          </a:xfrm>
          <a:prstGeom prst="rect">
            <a:avLst/>
          </a:prstGeom>
        </p:spPr>
      </p:pic>
      <p:sp>
        <p:nvSpPr>
          <p:cNvPr id="23" name="Text 275"/>
          <p:cNvSpPr txBox="1"/>
          <p:nvPr/>
        </p:nvSpPr>
        <p:spPr>
          <a:xfrm>
            <a:off x="1463040" y="45720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AI libraries</a:t>
            </a:r>
            <a:endParaRPr lang="en-US" sz="1300" dirty="0"/>
          </a:p>
        </p:txBody>
      </p:sp>
      <p:sp>
        <p:nvSpPr>
          <p:cNvPr id="24" name="Text 276"/>
          <p:cNvSpPr txBox="1"/>
          <p:nvPr/>
        </p:nvSpPr>
        <p:spPr>
          <a:xfrm>
            <a:off x="2880360" y="45720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PyTorch, OpenCV</a:t>
            </a:r>
            <a:endParaRPr lang="en-US" sz="1300" dirty="0"/>
          </a:p>
        </p:txBody>
      </p:sp>
      <p:sp>
        <p:nvSpPr>
          <p:cNvPr id="25" name="Shape 277"/>
          <p:cNvSpPr/>
          <p:nvPr/>
        </p:nvSpPr>
        <p:spPr>
          <a:xfrm>
            <a:off x="822960" y="525780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6" name="Icon FaDatabase 278" descr="Database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60" y="5372100"/>
            <a:ext cx="228600" cy="228600"/>
          </a:xfrm>
          <a:prstGeom prst="rect">
            <a:avLst/>
          </a:prstGeom>
        </p:spPr>
      </p:pic>
      <p:sp>
        <p:nvSpPr>
          <p:cNvPr id="27" name="Text 279"/>
          <p:cNvSpPr txBox="1"/>
          <p:nvPr/>
        </p:nvSpPr>
        <p:spPr>
          <a:xfrm>
            <a:off x="1463040" y="5212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Database / Tools</a:t>
            </a:r>
            <a:endParaRPr lang="en-US" sz="1300" dirty="0"/>
          </a:p>
        </p:txBody>
      </p:sp>
      <p:sp>
        <p:nvSpPr>
          <p:cNvPr id="28" name="Text 280"/>
          <p:cNvSpPr txBox="1"/>
          <p:nvPr/>
        </p:nvSpPr>
        <p:spPr>
          <a:xfrm>
            <a:off x="2880360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SQLite; VS Code, GitHub</a:t>
            </a:r>
            <a:endParaRPr lang="en-US" sz="1300" dirty="0"/>
          </a:p>
        </p:txBody>
      </p:sp>
      <p:sp>
        <p:nvSpPr>
          <p:cNvPr id="29" name="Shape 281"/>
          <p:cNvSpPr/>
          <p:nvPr/>
        </p:nvSpPr>
        <p:spPr>
          <a:xfrm>
            <a:off x="6199632" y="1325880"/>
            <a:ext cx="5440680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30" name="Text 282"/>
          <p:cNvSpPr txBox="1"/>
          <p:nvPr/>
        </p:nvSpPr>
        <p:spPr>
          <a:xfrm>
            <a:off x="6473952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Hardware Requirements</a:t>
            </a:r>
            <a:endParaRPr lang="en-US" sz="1800" dirty="0"/>
          </a:p>
        </p:txBody>
      </p:sp>
      <p:sp>
        <p:nvSpPr>
          <p:cNvPr id="31" name="Shape 283"/>
          <p:cNvSpPr/>
          <p:nvPr/>
        </p:nvSpPr>
        <p:spPr>
          <a:xfrm>
            <a:off x="6473952" y="205740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2" name="Icon FaMicrochip 284" descr="Microchip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8252" y="2171700"/>
            <a:ext cx="228600" cy="228600"/>
          </a:xfrm>
          <a:prstGeom prst="rect">
            <a:avLst/>
          </a:prstGeom>
        </p:spPr>
      </p:pic>
      <p:sp>
        <p:nvSpPr>
          <p:cNvPr id="33" name="Text 285"/>
          <p:cNvSpPr txBox="1"/>
          <p:nvPr/>
        </p:nvSpPr>
        <p:spPr>
          <a:xfrm>
            <a:off x="7114032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Processor</a:t>
            </a:r>
            <a:endParaRPr lang="en-US" sz="1300" dirty="0"/>
          </a:p>
        </p:txBody>
      </p:sp>
      <p:sp>
        <p:nvSpPr>
          <p:cNvPr id="34" name="Text 286"/>
          <p:cNvSpPr txBox="1"/>
          <p:nvPr/>
        </p:nvSpPr>
        <p:spPr>
          <a:xfrm>
            <a:off x="8531352" y="2011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Not specified</a:t>
            </a:r>
            <a:endParaRPr lang="en-US" sz="1300" dirty="0"/>
          </a:p>
        </p:txBody>
      </p:sp>
      <p:sp>
        <p:nvSpPr>
          <p:cNvPr id="35" name="Shape 287"/>
          <p:cNvSpPr/>
          <p:nvPr/>
        </p:nvSpPr>
        <p:spPr>
          <a:xfrm>
            <a:off x="6473952" y="269748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6" name="Icon FaMemory 288" descr="Memory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8252" y="2811780"/>
            <a:ext cx="228600" cy="228600"/>
          </a:xfrm>
          <a:prstGeom prst="rect">
            <a:avLst/>
          </a:prstGeom>
        </p:spPr>
      </p:pic>
      <p:sp>
        <p:nvSpPr>
          <p:cNvPr id="37" name="Text 289"/>
          <p:cNvSpPr txBox="1"/>
          <p:nvPr/>
        </p:nvSpPr>
        <p:spPr>
          <a:xfrm>
            <a:off x="7114032" y="26517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RAM</a:t>
            </a:r>
            <a:endParaRPr lang="en-US" sz="1300" dirty="0"/>
          </a:p>
        </p:txBody>
      </p:sp>
      <p:sp>
        <p:nvSpPr>
          <p:cNvPr id="38" name="Text 290"/>
          <p:cNvSpPr txBox="1"/>
          <p:nvPr/>
        </p:nvSpPr>
        <p:spPr>
          <a:xfrm>
            <a:off x="8531352" y="26517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Not specified</a:t>
            </a:r>
            <a:endParaRPr lang="en-US" sz="1300" dirty="0"/>
          </a:p>
        </p:txBody>
      </p:sp>
      <p:sp>
        <p:nvSpPr>
          <p:cNvPr id="39" name="Shape 291"/>
          <p:cNvSpPr/>
          <p:nvPr/>
        </p:nvSpPr>
        <p:spPr>
          <a:xfrm>
            <a:off x="6473952" y="333756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40" name="Icon FaHdd 292" descr="Hdd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8252" y="3451860"/>
            <a:ext cx="228600" cy="228600"/>
          </a:xfrm>
          <a:prstGeom prst="rect">
            <a:avLst/>
          </a:prstGeom>
        </p:spPr>
      </p:pic>
      <p:sp>
        <p:nvSpPr>
          <p:cNvPr id="41" name="Text 293"/>
          <p:cNvSpPr txBox="1"/>
          <p:nvPr/>
        </p:nvSpPr>
        <p:spPr>
          <a:xfrm>
            <a:off x="7114032" y="3291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Storage</a:t>
            </a:r>
            <a:endParaRPr lang="en-US" sz="1300" dirty="0"/>
          </a:p>
        </p:txBody>
      </p:sp>
      <p:sp>
        <p:nvSpPr>
          <p:cNvPr id="42" name="Text 294"/>
          <p:cNvSpPr txBox="1"/>
          <p:nvPr/>
        </p:nvSpPr>
        <p:spPr>
          <a:xfrm>
            <a:off x="8531352" y="3291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Not specified</a:t>
            </a:r>
            <a:endParaRPr lang="en-US" sz="1300" dirty="0"/>
          </a:p>
        </p:txBody>
      </p:sp>
      <p:sp>
        <p:nvSpPr>
          <p:cNvPr id="43" name="Shape 295"/>
          <p:cNvSpPr/>
          <p:nvPr/>
        </p:nvSpPr>
        <p:spPr>
          <a:xfrm>
            <a:off x="6473952" y="397764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44" name="Icon FaCamera 296" descr="Camera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8252" y="4091940"/>
            <a:ext cx="228600" cy="228600"/>
          </a:xfrm>
          <a:prstGeom prst="rect">
            <a:avLst/>
          </a:prstGeom>
        </p:spPr>
      </p:pic>
      <p:sp>
        <p:nvSpPr>
          <p:cNvPr id="45" name="Text 297"/>
          <p:cNvSpPr txBox="1"/>
          <p:nvPr/>
        </p:nvSpPr>
        <p:spPr>
          <a:xfrm>
            <a:off x="7114032" y="39319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Peripherals</a:t>
            </a:r>
            <a:endParaRPr lang="en-US" sz="1300" dirty="0"/>
          </a:p>
        </p:txBody>
      </p:sp>
      <p:sp>
        <p:nvSpPr>
          <p:cNvPr id="46" name="Text 298"/>
          <p:cNvSpPr txBox="1"/>
          <p:nvPr/>
        </p:nvSpPr>
        <p:spPr>
          <a:xfrm>
            <a:off x="8531352" y="3931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Not specified</a:t>
            </a:r>
            <a:endParaRPr lang="en-US" sz="1300" dirty="0"/>
          </a:p>
        </p:txBody>
      </p:sp>
      <p:sp>
        <p:nvSpPr>
          <p:cNvPr id="47" name="Shape 299"/>
          <p:cNvSpPr/>
          <p:nvPr/>
        </p:nvSpPr>
        <p:spPr>
          <a:xfrm>
            <a:off x="6473952" y="461772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48" name="Icon FaWifi 300" descr="Wifi 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8252" y="4732020"/>
            <a:ext cx="228600" cy="228600"/>
          </a:xfrm>
          <a:prstGeom prst="rect">
            <a:avLst/>
          </a:prstGeom>
        </p:spPr>
      </p:pic>
      <p:sp>
        <p:nvSpPr>
          <p:cNvPr id="49" name="Text 301"/>
          <p:cNvSpPr txBox="1"/>
          <p:nvPr/>
        </p:nvSpPr>
        <p:spPr>
          <a:xfrm>
            <a:off x="7114032" y="45720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Network</a:t>
            </a:r>
            <a:endParaRPr lang="en-US" sz="1300" dirty="0"/>
          </a:p>
        </p:txBody>
      </p:sp>
      <p:sp>
        <p:nvSpPr>
          <p:cNvPr id="50" name="Text 302"/>
          <p:cNvSpPr txBox="1"/>
          <p:nvPr/>
        </p:nvSpPr>
        <p:spPr>
          <a:xfrm>
            <a:off x="8531352" y="45720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Local / web access via browser</a:t>
            </a:r>
            <a:endParaRPr lang="en-US" sz="1300" dirty="0"/>
          </a:p>
        </p:txBody>
      </p:sp>
      <p:sp>
        <p:nvSpPr>
          <p:cNvPr id="51" name="Shape 303"/>
          <p:cNvSpPr/>
          <p:nvPr/>
        </p:nvSpPr>
        <p:spPr>
          <a:xfrm>
            <a:off x="6473952" y="525780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52" name="Icon FaServer 304" descr="Server 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8252" y="5372100"/>
            <a:ext cx="228600" cy="228600"/>
          </a:xfrm>
          <a:prstGeom prst="rect">
            <a:avLst/>
          </a:prstGeom>
        </p:spPr>
      </p:pic>
      <p:sp>
        <p:nvSpPr>
          <p:cNvPr id="53" name="Text 305"/>
          <p:cNvSpPr txBox="1"/>
          <p:nvPr/>
        </p:nvSpPr>
        <p:spPr>
          <a:xfrm>
            <a:off x="7114032" y="5212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Overall</a:t>
            </a:r>
            <a:endParaRPr lang="en-US" sz="1300" dirty="0"/>
          </a:p>
        </p:txBody>
      </p:sp>
      <p:sp>
        <p:nvSpPr>
          <p:cNvPr id="54" name="Text 306"/>
          <p:cNvSpPr txBox="1"/>
          <p:nvPr/>
        </p:nvSpPr>
        <p:spPr>
          <a:xfrm>
            <a:off x="8531352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Standard system capable of running Python / Flask applications</a:t>
            </a:r>
            <a:endParaRPr lang="en-US" sz="120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Shape 308"/>
          <p:cNvSpPr/>
          <p:nvPr/>
        </p:nvSpPr>
        <p:spPr>
          <a:xfrm>
            <a:off x="548640" y="1261872"/>
            <a:ext cx="11091672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9525">
            <a:solidFill>
              <a:srgbClr val="DADDF2"/>
            </a:solidFill>
            <a:prstDash val="solid"/>
          </a:ln>
        </p:spPr>
      </p:sp>
      <p:sp>
        <p:nvSpPr>
          <p:cNvPr id="4" name="Shape 309"/>
          <p:cNvSpPr/>
          <p:nvPr/>
        </p:nvSpPr>
        <p:spPr>
          <a:xfrm>
            <a:off x="548640" y="1261872"/>
            <a:ext cx="2286000" cy="475488"/>
          </a:xfrm>
          <a:prstGeom prst="roundRect">
            <a:avLst>
              <a:gd name="adj" fmla="val 19231"/>
            </a:avLst>
          </a:prstGeom>
          <a:solidFill>
            <a:schemeClr val="tx2"/>
          </a:solidFill>
          <a:ln/>
        </p:spPr>
      </p:sp>
      <p:sp>
        <p:nvSpPr>
          <p:cNvPr id="5" name="Text 310"/>
          <p:cNvSpPr txBox="1"/>
          <p:nvPr/>
        </p:nvSpPr>
        <p:spPr>
          <a:xfrm>
            <a:off x="640080" y="126187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USER</a:t>
            </a:r>
            <a:endParaRPr lang="en-US" sz="1200" dirty="0"/>
          </a:p>
        </p:txBody>
      </p:sp>
      <p:sp>
        <p:nvSpPr>
          <p:cNvPr id="6" name="Text 311"/>
          <p:cNvSpPr txBox="1"/>
          <p:nvPr/>
        </p:nvSpPr>
        <p:spPr>
          <a:xfrm>
            <a:off x="3017520" y="1261872"/>
            <a:ext cx="8485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Guest  ·  Registered User  ·  Super Admin</a:t>
            </a:r>
            <a:endParaRPr lang="en-US" sz="1300" dirty="0"/>
          </a:p>
        </p:txBody>
      </p:sp>
      <p:sp>
        <p:nvSpPr>
          <p:cNvPr id="7" name="Shape 312"/>
          <p:cNvSpPr/>
          <p:nvPr/>
        </p:nvSpPr>
        <p:spPr>
          <a:xfrm>
            <a:off x="548640" y="1828800"/>
            <a:ext cx="11091672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9525">
            <a:solidFill>
              <a:srgbClr val="DADDF2"/>
            </a:solidFill>
            <a:prstDash val="solid"/>
          </a:ln>
        </p:spPr>
      </p:sp>
      <p:sp>
        <p:nvSpPr>
          <p:cNvPr id="8" name="Shape 313"/>
          <p:cNvSpPr/>
          <p:nvPr/>
        </p:nvSpPr>
        <p:spPr>
          <a:xfrm>
            <a:off x="548640" y="1828800"/>
            <a:ext cx="2286000" cy="475488"/>
          </a:xfrm>
          <a:prstGeom prst="roundRect">
            <a:avLst>
              <a:gd name="adj" fmla="val 19231"/>
            </a:avLst>
          </a:prstGeom>
          <a:solidFill>
            <a:schemeClr val="tx2"/>
          </a:solidFill>
          <a:ln/>
        </p:spPr>
      </p:sp>
      <p:sp>
        <p:nvSpPr>
          <p:cNvPr id="9" name="Text 314"/>
          <p:cNvSpPr txBox="1"/>
          <p:nvPr/>
        </p:nvSpPr>
        <p:spPr>
          <a:xfrm>
            <a:off x="640080" y="18288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Presentation Layer</a:t>
            </a:r>
            <a:endParaRPr lang="en-US" sz="1200" dirty="0"/>
          </a:p>
        </p:txBody>
      </p:sp>
      <p:sp>
        <p:nvSpPr>
          <p:cNvPr id="10" name="Text 315"/>
          <p:cNvSpPr txBox="1"/>
          <p:nvPr/>
        </p:nvSpPr>
        <p:spPr>
          <a:xfrm>
            <a:off x="3017520" y="1828800"/>
            <a:ext cx="8485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HTML  ·  CSS  ·  Bootstrap  ·  JavaScript</a:t>
            </a:r>
            <a:endParaRPr lang="en-US" sz="1300" dirty="0"/>
          </a:p>
        </p:txBody>
      </p:sp>
      <p:sp>
        <p:nvSpPr>
          <p:cNvPr id="11" name="Shape 316"/>
          <p:cNvSpPr/>
          <p:nvPr/>
        </p:nvSpPr>
        <p:spPr>
          <a:xfrm>
            <a:off x="548640" y="2395728"/>
            <a:ext cx="11091672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9525">
            <a:solidFill>
              <a:srgbClr val="DADDF2"/>
            </a:solidFill>
            <a:prstDash val="solid"/>
          </a:ln>
        </p:spPr>
      </p:sp>
      <p:sp>
        <p:nvSpPr>
          <p:cNvPr id="12" name="Shape 317"/>
          <p:cNvSpPr/>
          <p:nvPr/>
        </p:nvSpPr>
        <p:spPr>
          <a:xfrm>
            <a:off x="548640" y="2395728"/>
            <a:ext cx="2286000" cy="475488"/>
          </a:xfrm>
          <a:prstGeom prst="roundRect">
            <a:avLst>
              <a:gd name="adj" fmla="val 19231"/>
            </a:avLst>
          </a:prstGeom>
          <a:solidFill>
            <a:schemeClr val="tx2"/>
          </a:solidFill>
          <a:ln/>
        </p:spPr>
      </p:sp>
      <p:sp>
        <p:nvSpPr>
          <p:cNvPr id="13" name="Text 318"/>
          <p:cNvSpPr txBox="1"/>
          <p:nvPr/>
        </p:nvSpPr>
        <p:spPr>
          <a:xfrm>
            <a:off x="640080" y="239572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Flask Application Layer</a:t>
            </a:r>
            <a:endParaRPr lang="en-US" sz="1200" dirty="0"/>
          </a:p>
        </p:txBody>
      </p:sp>
      <p:sp>
        <p:nvSpPr>
          <p:cNvPr id="14" name="Text 319"/>
          <p:cNvSpPr txBox="1"/>
          <p:nvPr/>
        </p:nvSpPr>
        <p:spPr>
          <a:xfrm>
            <a:off x="3017520" y="2395728"/>
            <a:ext cx="8485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Business logic  ·  Request routing  ·  Views</a:t>
            </a:r>
            <a:endParaRPr lang="en-US" sz="1300" dirty="0"/>
          </a:p>
        </p:txBody>
      </p:sp>
      <p:sp>
        <p:nvSpPr>
          <p:cNvPr id="15" name="Shape 320"/>
          <p:cNvSpPr/>
          <p:nvPr/>
        </p:nvSpPr>
        <p:spPr>
          <a:xfrm>
            <a:off x="548640" y="2962656"/>
            <a:ext cx="1109167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DADDF2"/>
            </a:solidFill>
            <a:prstDash val="solid"/>
          </a:ln>
        </p:spPr>
      </p:sp>
      <p:sp>
        <p:nvSpPr>
          <p:cNvPr id="16" name="Shape 321"/>
          <p:cNvSpPr/>
          <p:nvPr/>
        </p:nvSpPr>
        <p:spPr>
          <a:xfrm>
            <a:off x="548640" y="2962656"/>
            <a:ext cx="228600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7" name="Text 322"/>
          <p:cNvSpPr txBox="1"/>
          <p:nvPr/>
        </p:nvSpPr>
        <p:spPr>
          <a:xfrm>
            <a:off x="640080" y="2962656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Functional Modules</a:t>
            </a:r>
            <a:endParaRPr lang="en-US" sz="1200" dirty="0"/>
          </a:p>
        </p:txBody>
      </p:sp>
      <p:sp>
        <p:nvSpPr>
          <p:cNvPr id="18" name="Shape 323"/>
          <p:cNvSpPr/>
          <p:nvPr/>
        </p:nvSpPr>
        <p:spPr>
          <a:xfrm>
            <a:off x="2971800" y="3145536"/>
            <a:ext cx="882904" cy="1005840"/>
          </a:xfrm>
          <a:prstGeom prst="roundRect">
            <a:avLst>
              <a:gd name="adj" fmla="val 828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</p:spPr>
      </p:sp>
      <p:sp>
        <p:nvSpPr>
          <p:cNvPr id="19" name="Text 324"/>
          <p:cNvSpPr txBox="1"/>
          <p:nvPr/>
        </p:nvSpPr>
        <p:spPr>
          <a:xfrm>
            <a:off x="2971800" y="3145536"/>
            <a:ext cx="882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Auth</a:t>
            </a:r>
            <a:endParaRPr lang="en-US" sz="1100" dirty="0"/>
          </a:p>
        </p:txBody>
      </p:sp>
      <p:sp>
        <p:nvSpPr>
          <p:cNvPr id="20" name="Shape 325"/>
          <p:cNvSpPr/>
          <p:nvPr/>
        </p:nvSpPr>
        <p:spPr>
          <a:xfrm>
            <a:off x="3927856" y="3145536"/>
            <a:ext cx="882904" cy="1005840"/>
          </a:xfrm>
          <a:prstGeom prst="roundRect">
            <a:avLst>
              <a:gd name="adj" fmla="val 828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</p:spPr>
      </p:sp>
      <p:sp>
        <p:nvSpPr>
          <p:cNvPr id="21" name="Text 326"/>
          <p:cNvSpPr txBox="1"/>
          <p:nvPr/>
        </p:nvSpPr>
        <p:spPr>
          <a:xfrm>
            <a:off x="3927856" y="3145536"/>
            <a:ext cx="882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Profile</a:t>
            </a:r>
            <a:endParaRPr lang="en-US" sz="1100" dirty="0"/>
          </a:p>
        </p:txBody>
      </p:sp>
      <p:sp>
        <p:nvSpPr>
          <p:cNvPr id="22" name="Shape 327"/>
          <p:cNvSpPr/>
          <p:nvPr/>
        </p:nvSpPr>
        <p:spPr>
          <a:xfrm>
            <a:off x="4883912" y="3145536"/>
            <a:ext cx="882904" cy="1005840"/>
          </a:xfrm>
          <a:prstGeom prst="roundRect">
            <a:avLst>
              <a:gd name="adj" fmla="val 828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</p:spPr>
      </p:sp>
      <p:sp>
        <p:nvSpPr>
          <p:cNvPr id="23" name="Text 328"/>
          <p:cNvSpPr txBox="1"/>
          <p:nvPr/>
        </p:nvSpPr>
        <p:spPr>
          <a:xfrm>
            <a:off x="4883912" y="3145536"/>
            <a:ext cx="882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Content</a:t>
            </a:r>
            <a:endParaRPr lang="en-US" sz="1100" dirty="0"/>
          </a:p>
        </p:txBody>
      </p:sp>
      <p:sp>
        <p:nvSpPr>
          <p:cNvPr id="24" name="Shape 329"/>
          <p:cNvSpPr/>
          <p:nvPr/>
        </p:nvSpPr>
        <p:spPr>
          <a:xfrm>
            <a:off x="5839968" y="3145536"/>
            <a:ext cx="882904" cy="1005840"/>
          </a:xfrm>
          <a:prstGeom prst="roundRect">
            <a:avLst>
              <a:gd name="adj" fmla="val 828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</p:spPr>
      </p:sp>
      <p:sp>
        <p:nvSpPr>
          <p:cNvPr id="25" name="Text 330"/>
          <p:cNvSpPr txBox="1"/>
          <p:nvPr/>
        </p:nvSpPr>
        <p:spPr>
          <a:xfrm>
            <a:off x="5839968" y="3145536"/>
            <a:ext cx="882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Stories &amp; Reels</a:t>
            </a:r>
            <a:endParaRPr lang="en-US" sz="1100" dirty="0"/>
          </a:p>
        </p:txBody>
      </p:sp>
      <p:sp>
        <p:nvSpPr>
          <p:cNvPr id="26" name="Shape 331"/>
          <p:cNvSpPr/>
          <p:nvPr/>
        </p:nvSpPr>
        <p:spPr>
          <a:xfrm>
            <a:off x="6796024" y="3145536"/>
            <a:ext cx="882904" cy="1005840"/>
          </a:xfrm>
          <a:prstGeom prst="roundRect">
            <a:avLst>
              <a:gd name="adj" fmla="val 828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</p:spPr>
      </p:sp>
      <p:sp>
        <p:nvSpPr>
          <p:cNvPr id="27" name="Text 332"/>
          <p:cNvSpPr txBox="1"/>
          <p:nvPr/>
        </p:nvSpPr>
        <p:spPr>
          <a:xfrm>
            <a:off x="6796024" y="3145536"/>
            <a:ext cx="882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Messaging</a:t>
            </a:r>
            <a:endParaRPr lang="en-US" sz="1100" dirty="0"/>
          </a:p>
        </p:txBody>
      </p:sp>
      <p:sp>
        <p:nvSpPr>
          <p:cNvPr id="28" name="Shape 333"/>
          <p:cNvSpPr/>
          <p:nvPr/>
        </p:nvSpPr>
        <p:spPr>
          <a:xfrm>
            <a:off x="7752080" y="3145536"/>
            <a:ext cx="882904" cy="1005840"/>
          </a:xfrm>
          <a:prstGeom prst="roundRect">
            <a:avLst>
              <a:gd name="adj" fmla="val 828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</p:spPr>
      </p:sp>
      <p:sp>
        <p:nvSpPr>
          <p:cNvPr id="29" name="Text 334"/>
          <p:cNvSpPr txBox="1"/>
          <p:nvPr/>
        </p:nvSpPr>
        <p:spPr>
          <a:xfrm>
            <a:off x="7752080" y="3145536"/>
            <a:ext cx="882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Social</a:t>
            </a:r>
            <a:endParaRPr lang="en-US" sz="1100" dirty="0"/>
          </a:p>
        </p:txBody>
      </p:sp>
      <p:sp>
        <p:nvSpPr>
          <p:cNvPr id="30" name="Shape 335"/>
          <p:cNvSpPr/>
          <p:nvPr/>
        </p:nvSpPr>
        <p:spPr>
          <a:xfrm>
            <a:off x="8708136" y="3145536"/>
            <a:ext cx="882904" cy="1005840"/>
          </a:xfrm>
          <a:prstGeom prst="roundRect">
            <a:avLst>
              <a:gd name="adj" fmla="val 828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</p:spPr>
      </p:sp>
      <p:sp>
        <p:nvSpPr>
          <p:cNvPr id="31" name="Text 336"/>
          <p:cNvSpPr txBox="1"/>
          <p:nvPr/>
        </p:nvSpPr>
        <p:spPr>
          <a:xfrm>
            <a:off x="8708136" y="3145536"/>
            <a:ext cx="882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Explore</a:t>
            </a:r>
            <a:endParaRPr lang="en-US" sz="1100" dirty="0"/>
          </a:p>
        </p:txBody>
      </p:sp>
      <p:sp>
        <p:nvSpPr>
          <p:cNvPr id="32" name="Shape 337"/>
          <p:cNvSpPr/>
          <p:nvPr/>
        </p:nvSpPr>
        <p:spPr>
          <a:xfrm>
            <a:off x="9664192" y="3145536"/>
            <a:ext cx="882904" cy="1005840"/>
          </a:xfrm>
          <a:prstGeom prst="roundRect">
            <a:avLst>
              <a:gd name="adj" fmla="val 828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</p:spPr>
      </p:sp>
      <p:sp>
        <p:nvSpPr>
          <p:cNvPr id="33" name="Text 338"/>
          <p:cNvSpPr txBox="1"/>
          <p:nvPr/>
        </p:nvSpPr>
        <p:spPr>
          <a:xfrm>
            <a:off x="9664192" y="3145536"/>
            <a:ext cx="882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AI Studio</a:t>
            </a:r>
            <a:endParaRPr lang="en-US" sz="1100" dirty="0"/>
          </a:p>
        </p:txBody>
      </p:sp>
      <p:sp>
        <p:nvSpPr>
          <p:cNvPr id="34" name="Shape 339"/>
          <p:cNvSpPr/>
          <p:nvPr/>
        </p:nvSpPr>
        <p:spPr>
          <a:xfrm>
            <a:off x="10620248" y="3145536"/>
            <a:ext cx="882904" cy="1005840"/>
          </a:xfrm>
          <a:prstGeom prst="roundRect">
            <a:avLst>
              <a:gd name="adj" fmla="val 828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</p:spPr>
      </p:sp>
      <p:sp>
        <p:nvSpPr>
          <p:cNvPr id="35" name="Text 340"/>
          <p:cNvSpPr txBox="1"/>
          <p:nvPr/>
        </p:nvSpPr>
        <p:spPr>
          <a:xfrm>
            <a:off x="10620248" y="3145536"/>
            <a:ext cx="882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Admin</a:t>
            </a:r>
            <a:endParaRPr lang="en-US" sz="1100" dirty="0"/>
          </a:p>
        </p:txBody>
      </p:sp>
      <p:sp>
        <p:nvSpPr>
          <p:cNvPr id="36" name="Shape 341"/>
          <p:cNvSpPr/>
          <p:nvPr/>
        </p:nvSpPr>
        <p:spPr>
          <a:xfrm>
            <a:off x="548640" y="4425696"/>
            <a:ext cx="11091672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9525">
            <a:solidFill>
              <a:srgbClr val="DADDF2"/>
            </a:solidFill>
            <a:prstDash val="solid"/>
          </a:ln>
        </p:spPr>
      </p:sp>
      <p:sp>
        <p:nvSpPr>
          <p:cNvPr id="37" name="Shape 342"/>
          <p:cNvSpPr/>
          <p:nvPr/>
        </p:nvSpPr>
        <p:spPr>
          <a:xfrm>
            <a:off x="548640" y="4425696"/>
            <a:ext cx="2286000" cy="566928"/>
          </a:xfrm>
          <a:prstGeom prst="roundRect">
            <a:avLst>
              <a:gd name="adj" fmla="val 16129"/>
            </a:avLst>
          </a:prstGeom>
          <a:solidFill>
            <a:schemeClr val="accent2"/>
          </a:solidFill>
          <a:ln/>
        </p:spPr>
      </p:sp>
      <p:sp>
        <p:nvSpPr>
          <p:cNvPr id="38" name="Text 343"/>
          <p:cNvSpPr txBox="1"/>
          <p:nvPr/>
        </p:nvSpPr>
        <p:spPr>
          <a:xfrm>
            <a:off x="640080" y="442569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AI Processing / Scoring Engine</a:t>
            </a:r>
            <a:endParaRPr lang="en-US" sz="1200" dirty="0"/>
          </a:p>
        </p:txBody>
      </p:sp>
      <p:sp>
        <p:nvSpPr>
          <p:cNvPr id="39" name="Text 344"/>
          <p:cNvSpPr txBox="1"/>
          <p:nvPr/>
        </p:nvSpPr>
        <p:spPr>
          <a:xfrm>
            <a:off x="3017520" y="4425696"/>
            <a:ext cx="8485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ML models  ·  Recommendation engine  ·  Moderation engine  ·  Evaluation logic  ·  Result computation</a:t>
            </a:r>
            <a:endParaRPr lang="en-US" sz="1300" dirty="0"/>
          </a:p>
        </p:txBody>
      </p:sp>
      <p:sp>
        <p:nvSpPr>
          <p:cNvPr id="40" name="Shape 345"/>
          <p:cNvSpPr/>
          <p:nvPr/>
        </p:nvSpPr>
        <p:spPr>
          <a:xfrm>
            <a:off x="548640" y="5084064"/>
            <a:ext cx="11091672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9525">
            <a:solidFill>
              <a:srgbClr val="DADDF2"/>
            </a:solidFill>
            <a:prstDash val="solid"/>
          </a:ln>
        </p:spPr>
      </p:sp>
      <p:sp>
        <p:nvSpPr>
          <p:cNvPr id="41" name="Shape 346"/>
          <p:cNvSpPr/>
          <p:nvPr/>
        </p:nvSpPr>
        <p:spPr>
          <a:xfrm>
            <a:off x="548640" y="5084064"/>
            <a:ext cx="228600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42" name="Text 347"/>
          <p:cNvSpPr txBox="1"/>
          <p:nvPr/>
        </p:nvSpPr>
        <p:spPr>
          <a:xfrm>
            <a:off x="640080" y="50840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Database (SQLite)</a:t>
            </a:r>
            <a:endParaRPr lang="en-US" sz="1200" dirty="0"/>
          </a:p>
        </p:txBody>
      </p:sp>
      <p:sp>
        <p:nvSpPr>
          <p:cNvPr id="43" name="Text 348"/>
          <p:cNvSpPr txBox="1"/>
          <p:nvPr/>
        </p:nvSpPr>
        <p:spPr>
          <a:xfrm>
            <a:off x="3017520" y="5084064"/>
            <a:ext cx="8485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Users, profiles, posts, reels, stories, messages, likes, comments, follows, reports, feature flags, logs</a:t>
            </a:r>
            <a:endParaRPr lang="en-US" sz="1300" dirty="0"/>
          </a:p>
        </p:txBody>
      </p:sp>
      <p:sp>
        <p:nvSpPr>
          <p:cNvPr id="44" name="Shape 349"/>
          <p:cNvSpPr/>
          <p:nvPr/>
        </p:nvSpPr>
        <p:spPr>
          <a:xfrm>
            <a:off x="548640" y="5742432"/>
            <a:ext cx="11091672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rgbClr val="DADDF2"/>
            </a:solidFill>
            <a:prstDash val="solid"/>
          </a:ln>
        </p:spPr>
      </p:sp>
      <p:sp>
        <p:nvSpPr>
          <p:cNvPr id="45" name="Shape 350"/>
          <p:cNvSpPr/>
          <p:nvPr/>
        </p:nvSpPr>
        <p:spPr>
          <a:xfrm>
            <a:off x="548640" y="5742432"/>
            <a:ext cx="2286000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</p:sp>
      <p:sp>
        <p:nvSpPr>
          <p:cNvPr id="46" name="Text 351"/>
          <p:cNvSpPr txBox="1"/>
          <p:nvPr/>
        </p:nvSpPr>
        <p:spPr>
          <a:xfrm>
            <a:off x="640080" y="57424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Results / Output</a:t>
            </a:r>
            <a:endParaRPr lang="en-US" sz="1200" dirty="0"/>
          </a:p>
        </p:txBody>
      </p:sp>
      <p:sp>
        <p:nvSpPr>
          <p:cNvPr id="47" name="Text 352"/>
          <p:cNvSpPr txBox="1"/>
          <p:nvPr/>
        </p:nvSpPr>
        <p:spPr>
          <a:xfrm>
            <a:off x="3017520" y="5742432"/>
            <a:ext cx="8485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Personalized feed  ·  Recommendations  ·  AI suggestions  ·  Notifications  ·  Reports  ·  Insights</a:t>
            </a:r>
            <a:endParaRPr lang="en-US" sz="13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03159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Design Diagrams</a:t>
            </a:r>
            <a:endParaRPr lang="en-US" sz="3200" dirty="0"/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68B053A4-7D0A-4AFE-A205-1B69122E4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260" y="2577232"/>
            <a:ext cx="8515709" cy="1703535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250ACD44-AE27-45DE-9C1D-2FE5320FCB34}"/>
              </a:ext>
            </a:extLst>
          </p:cNvPr>
          <p:cNvSpPr txBox="1"/>
          <p:nvPr/>
        </p:nvSpPr>
        <p:spPr>
          <a:xfrm>
            <a:off x="5725960" y="4737994"/>
            <a:ext cx="1694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DFD Level 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86120-88B1-4DD0-9A68-C092742FA98C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DFD Level 1 – User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6A9B2E-C172-487E-8E39-8D56E63F6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238" y="1916724"/>
            <a:ext cx="6708531" cy="414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378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6DCAF-3481-447C-803C-410FB18ED666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Use Case Diagram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56E0C1-2793-4F88-8271-617CD2853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469" y="1066328"/>
            <a:ext cx="6023370" cy="544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66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97EC6-4A83-4A47-A05E-6CAA4BBFD1B7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Class Diagram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D28FF5-8804-4527-89C0-D5A3A5FAD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349" y="1078521"/>
            <a:ext cx="5700254" cy="543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57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7F4E-5E06-4EF7-B6AF-EEBCED59AC51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State Diagram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85EB11-31B1-4364-9A84-47F46A6FC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037" y="1455219"/>
            <a:ext cx="5157663" cy="463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525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0DA3B-E507-475E-824D-5AB643C739D1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Activity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9A6250-9410-469B-A5AE-29742735E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177" y="1477108"/>
            <a:ext cx="4716507" cy="484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054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B529C-23C0-42F9-AE57-2502F8A2BE19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Sequence Diagram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B719F0-09EB-42AB-9401-659C0B505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685" y="1433146"/>
            <a:ext cx="4773582" cy="449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0174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Module Description</a:t>
            </a:r>
            <a:endParaRPr lang="en-US" sz="3200" dirty="0"/>
          </a:p>
        </p:txBody>
      </p:sp>
      <p:sp>
        <p:nvSpPr>
          <p:cNvPr id="3" name="Shape 406"/>
          <p:cNvSpPr/>
          <p:nvPr/>
        </p:nvSpPr>
        <p:spPr>
          <a:xfrm>
            <a:off x="548640" y="1280160"/>
            <a:ext cx="3593592" cy="1536192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4" name="Shape 407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5" name="Icon FaLock 408" descr="Lo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588770"/>
            <a:ext cx="251460" cy="251460"/>
          </a:xfrm>
          <a:prstGeom prst="rect">
            <a:avLst/>
          </a:prstGeom>
        </p:spPr>
      </p:pic>
      <p:sp>
        <p:nvSpPr>
          <p:cNvPr id="6" name="Shape 409"/>
          <p:cNvSpPr/>
          <p:nvPr/>
        </p:nvSpPr>
        <p:spPr>
          <a:xfrm>
            <a:off x="3575304" y="1481328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410"/>
          <p:cNvSpPr txBox="1"/>
          <p:nvPr/>
        </p:nvSpPr>
        <p:spPr>
          <a:xfrm>
            <a:off x="3575304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411"/>
          <p:cNvSpPr txBox="1"/>
          <p:nvPr/>
        </p:nvSpPr>
        <p:spPr>
          <a:xfrm>
            <a:off x="1417320" y="14630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Authentication</a:t>
            </a:r>
            <a:endParaRPr lang="en-US" sz="1500" dirty="0"/>
          </a:p>
        </p:txBody>
      </p:sp>
      <p:sp>
        <p:nvSpPr>
          <p:cNvPr id="9" name="Text 412"/>
          <p:cNvSpPr txBox="1"/>
          <p:nvPr/>
        </p:nvSpPr>
        <p:spPr>
          <a:xfrm>
            <a:off x="731520" y="208483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Register, login, logout, password reset and session management.</a:t>
            </a:r>
            <a:endParaRPr lang="en-US" sz="1200" dirty="0"/>
          </a:p>
        </p:txBody>
      </p:sp>
      <p:sp>
        <p:nvSpPr>
          <p:cNvPr id="10" name="Shape 413"/>
          <p:cNvSpPr/>
          <p:nvPr/>
        </p:nvSpPr>
        <p:spPr>
          <a:xfrm>
            <a:off x="4297680" y="1280160"/>
            <a:ext cx="3593592" cy="1536192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1" name="Shape 414"/>
          <p:cNvSpPr/>
          <p:nvPr/>
        </p:nvSpPr>
        <p:spPr>
          <a:xfrm>
            <a:off x="4480560" y="1463040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2" name="Icon FaUser 415" descr="Use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290" y="1588770"/>
            <a:ext cx="251460" cy="251460"/>
          </a:xfrm>
          <a:prstGeom prst="rect">
            <a:avLst/>
          </a:prstGeom>
        </p:spPr>
      </p:pic>
      <p:sp>
        <p:nvSpPr>
          <p:cNvPr id="13" name="Shape 416"/>
          <p:cNvSpPr/>
          <p:nvPr/>
        </p:nvSpPr>
        <p:spPr>
          <a:xfrm>
            <a:off x="7324344" y="1481328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417"/>
          <p:cNvSpPr txBox="1"/>
          <p:nvPr/>
        </p:nvSpPr>
        <p:spPr>
          <a:xfrm>
            <a:off x="7324344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418"/>
          <p:cNvSpPr txBox="1"/>
          <p:nvPr/>
        </p:nvSpPr>
        <p:spPr>
          <a:xfrm>
            <a:off x="5166360" y="14630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Profile</a:t>
            </a:r>
            <a:endParaRPr lang="en-US" sz="1500" dirty="0"/>
          </a:p>
        </p:txBody>
      </p:sp>
      <p:sp>
        <p:nvSpPr>
          <p:cNvPr id="16" name="Text 419"/>
          <p:cNvSpPr txBox="1"/>
          <p:nvPr/>
        </p:nvSpPr>
        <p:spPr>
          <a:xfrm>
            <a:off x="4480560" y="208483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User profile, edit profile, privacy settings and account management.</a:t>
            </a:r>
            <a:endParaRPr lang="en-US" sz="1200" dirty="0"/>
          </a:p>
        </p:txBody>
      </p:sp>
      <p:sp>
        <p:nvSpPr>
          <p:cNvPr id="17" name="Shape 420"/>
          <p:cNvSpPr/>
          <p:nvPr/>
        </p:nvSpPr>
        <p:spPr>
          <a:xfrm>
            <a:off x="8046720" y="1280160"/>
            <a:ext cx="3593592" cy="1536192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8" name="Shape 421"/>
          <p:cNvSpPr/>
          <p:nvPr/>
        </p:nvSpPr>
        <p:spPr>
          <a:xfrm>
            <a:off x="8229600" y="1463040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9" name="Icon FaImage 422" descr="Imag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5330" y="1588770"/>
            <a:ext cx="251460" cy="251460"/>
          </a:xfrm>
          <a:prstGeom prst="rect">
            <a:avLst/>
          </a:prstGeom>
        </p:spPr>
      </p:pic>
      <p:sp>
        <p:nvSpPr>
          <p:cNvPr id="20" name="Shape 423"/>
          <p:cNvSpPr/>
          <p:nvPr/>
        </p:nvSpPr>
        <p:spPr>
          <a:xfrm>
            <a:off x="11073384" y="1481328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1" name="Text 424"/>
          <p:cNvSpPr txBox="1"/>
          <p:nvPr/>
        </p:nvSpPr>
        <p:spPr>
          <a:xfrm>
            <a:off x="11073384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425"/>
          <p:cNvSpPr txBox="1"/>
          <p:nvPr/>
        </p:nvSpPr>
        <p:spPr>
          <a:xfrm>
            <a:off x="8915400" y="14630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Content</a:t>
            </a:r>
            <a:endParaRPr lang="en-US" sz="1500" dirty="0"/>
          </a:p>
        </p:txBody>
      </p:sp>
      <p:sp>
        <p:nvSpPr>
          <p:cNvPr id="23" name="Text 426"/>
          <p:cNvSpPr txBox="1"/>
          <p:nvPr/>
        </p:nvSpPr>
        <p:spPr>
          <a:xfrm>
            <a:off x="8229600" y="208483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Create posts, upload media, likes, comments, save and share.</a:t>
            </a:r>
            <a:endParaRPr lang="en-US" sz="1200" dirty="0"/>
          </a:p>
        </p:txBody>
      </p:sp>
      <p:sp>
        <p:nvSpPr>
          <p:cNvPr id="24" name="Shape 427"/>
          <p:cNvSpPr/>
          <p:nvPr/>
        </p:nvSpPr>
        <p:spPr>
          <a:xfrm>
            <a:off x="548640" y="2926080"/>
            <a:ext cx="3593592" cy="1536192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25" name="Shape 428"/>
          <p:cNvSpPr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6" name="Icon FaFilm 429" descr="Film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234690"/>
            <a:ext cx="251460" cy="251460"/>
          </a:xfrm>
          <a:prstGeom prst="rect">
            <a:avLst/>
          </a:prstGeom>
        </p:spPr>
      </p:pic>
      <p:sp>
        <p:nvSpPr>
          <p:cNvPr id="27" name="Shape 430"/>
          <p:cNvSpPr/>
          <p:nvPr/>
        </p:nvSpPr>
        <p:spPr>
          <a:xfrm>
            <a:off x="3575304" y="3127248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431"/>
          <p:cNvSpPr txBox="1"/>
          <p:nvPr/>
        </p:nvSpPr>
        <p:spPr>
          <a:xfrm>
            <a:off x="3575304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432"/>
          <p:cNvSpPr txBox="1"/>
          <p:nvPr/>
        </p:nvSpPr>
        <p:spPr>
          <a:xfrm>
            <a:off x="1417320" y="31089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Stories &amp; Reels</a:t>
            </a:r>
            <a:endParaRPr lang="en-US" sz="1500" dirty="0"/>
          </a:p>
        </p:txBody>
      </p:sp>
      <p:sp>
        <p:nvSpPr>
          <p:cNvPr id="30" name="Text 433"/>
          <p:cNvSpPr txBox="1"/>
          <p:nvPr/>
        </p:nvSpPr>
        <p:spPr>
          <a:xfrm>
            <a:off x="731520" y="373075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Stories, highlights, reels and AI best-frame thumbnail.</a:t>
            </a:r>
            <a:endParaRPr lang="en-US" sz="1200" dirty="0"/>
          </a:p>
        </p:txBody>
      </p:sp>
      <p:sp>
        <p:nvSpPr>
          <p:cNvPr id="31" name="Shape 434"/>
          <p:cNvSpPr/>
          <p:nvPr/>
        </p:nvSpPr>
        <p:spPr>
          <a:xfrm>
            <a:off x="4297680" y="2926080"/>
            <a:ext cx="3593592" cy="1536192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32" name="Shape 435"/>
          <p:cNvSpPr/>
          <p:nvPr/>
        </p:nvSpPr>
        <p:spPr>
          <a:xfrm>
            <a:off x="4480560" y="3108960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3" name="Icon FaEnvelope 436" descr="Envelop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290" y="3234690"/>
            <a:ext cx="251460" cy="251460"/>
          </a:xfrm>
          <a:prstGeom prst="rect">
            <a:avLst/>
          </a:prstGeom>
        </p:spPr>
      </p:pic>
      <p:sp>
        <p:nvSpPr>
          <p:cNvPr id="34" name="Shape 437"/>
          <p:cNvSpPr/>
          <p:nvPr/>
        </p:nvSpPr>
        <p:spPr>
          <a:xfrm>
            <a:off x="7324344" y="3127248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5" name="Text 438"/>
          <p:cNvSpPr txBox="1"/>
          <p:nvPr/>
        </p:nvSpPr>
        <p:spPr>
          <a:xfrm>
            <a:off x="7324344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439"/>
          <p:cNvSpPr txBox="1"/>
          <p:nvPr/>
        </p:nvSpPr>
        <p:spPr>
          <a:xfrm>
            <a:off x="5166360" y="31089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Messaging</a:t>
            </a:r>
            <a:endParaRPr lang="en-US" sz="1500" dirty="0"/>
          </a:p>
        </p:txBody>
      </p:sp>
      <p:sp>
        <p:nvSpPr>
          <p:cNvPr id="37" name="Text 440"/>
          <p:cNvSpPr txBox="1"/>
          <p:nvPr/>
        </p:nvSpPr>
        <p:spPr>
          <a:xfrm>
            <a:off x="4480560" y="373075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Direct messages, conversations, message status and inbox.</a:t>
            </a:r>
            <a:endParaRPr lang="en-US" sz="1200" dirty="0"/>
          </a:p>
        </p:txBody>
      </p:sp>
      <p:sp>
        <p:nvSpPr>
          <p:cNvPr id="38" name="Shape 441"/>
          <p:cNvSpPr/>
          <p:nvPr/>
        </p:nvSpPr>
        <p:spPr>
          <a:xfrm>
            <a:off x="8046720" y="2926080"/>
            <a:ext cx="3593592" cy="1536192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39" name="Shape 442"/>
          <p:cNvSpPr/>
          <p:nvPr/>
        </p:nvSpPr>
        <p:spPr>
          <a:xfrm>
            <a:off x="8229600" y="3108960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40" name="Icon FaUserFriends 443" descr="UserFriends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5330" y="3234690"/>
            <a:ext cx="251460" cy="251460"/>
          </a:xfrm>
          <a:prstGeom prst="rect">
            <a:avLst/>
          </a:prstGeom>
        </p:spPr>
      </p:pic>
      <p:sp>
        <p:nvSpPr>
          <p:cNvPr id="41" name="Shape 444"/>
          <p:cNvSpPr/>
          <p:nvPr/>
        </p:nvSpPr>
        <p:spPr>
          <a:xfrm>
            <a:off x="11073384" y="3127248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2" name="Text 445"/>
          <p:cNvSpPr txBox="1"/>
          <p:nvPr/>
        </p:nvSpPr>
        <p:spPr>
          <a:xfrm>
            <a:off x="11073384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43" name="Text 446"/>
          <p:cNvSpPr txBox="1"/>
          <p:nvPr/>
        </p:nvSpPr>
        <p:spPr>
          <a:xfrm>
            <a:off x="8915400" y="31089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Social</a:t>
            </a:r>
            <a:endParaRPr lang="en-US" sz="1500" dirty="0"/>
          </a:p>
        </p:txBody>
      </p:sp>
      <p:sp>
        <p:nvSpPr>
          <p:cNvPr id="44" name="Text 447"/>
          <p:cNvSpPr txBox="1"/>
          <p:nvPr/>
        </p:nvSpPr>
        <p:spPr>
          <a:xfrm>
            <a:off x="8229600" y="373075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Follow / unfollow, follow requests, block, mute, restrict and report.</a:t>
            </a:r>
            <a:endParaRPr lang="en-US" sz="1200" dirty="0"/>
          </a:p>
        </p:txBody>
      </p:sp>
      <p:sp>
        <p:nvSpPr>
          <p:cNvPr id="45" name="Shape 448"/>
          <p:cNvSpPr/>
          <p:nvPr/>
        </p:nvSpPr>
        <p:spPr>
          <a:xfrm>
            <a:off x="548640" y="4572000"/>
            <a:ext cx="3593592" cy="1536192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46" name="Shape 449"/>
          <p:cNvSpPr/>
          <p:nvPr/>
        </p:nvSpPr>
        <p:spPr>
          <a:xfrm>
            <a:off x="731520" y="4754880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47" name="Icon FaCompass 450" descr="Compass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4880610"/>
            <a:ext cx="251460" cy="251460"/>
          </a:xfrm>
          <a:prstGeom prst="rect">
            <a:avLst/>
          </a:prstGeom>
        </p:spPr>
      </p:pic>
      <p:sp>
        <p:nvSpPr>
          <p:cNvPr id="48" name="Shape 451"/>
          <p:cNvSpPr/>
          <p:nvPr/>
        </p:nvSpPr>
        <p:spPr>
          <a:xfrm>
            <a:off x="3575304" y="4773168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9" name="Text 452"/>
          <p:cNvSpPr txBox="1"/>
          <p:nvPr/>
        </p:nvSpPr>
        <p:spPr>
          <a:xfrm>
            <a:off x="3575304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50" name="Text 453"/>
          <p:cNvSpPr txBox="1"/>
          <p:nvPr/>
        </p:nvSpPr>
        <p:spPr>
          <a:xfrm>
            <a:off x="1417320" y="47548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Explore</a:t>
            </a:r>
            <a:endParaRPr lang="en-US" sz="1500" dirty="0"/>
          </a:p>
        </p:txBody>
      </p:sp>
      <p:sp>
        <p:nvSpPr>
          <p:cNvPr id="51" name="Text 454"/>
          <p:cNvSpPr txBox="1"/>
          <p:nvPr/>
        </p:nvSpPr>
        <p:spPr>
          <a:xfrm>
            <a:off x="731520" y="537667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Search users, explore posts, hashtags and trends.</a:t>
            </a:r>
            <a:endParaRPr lang="en-US" sz="1200" dirty="0"/>
          </a:p>
        </p:txBody>
      </p:sp>
      <p:sp>
        <p:nvSpPr>
          <p:cNvPr id="52" name="Shape 455"/>
          <p:cNvSpPr/>
          <p:nvPr/>
        </p:nvSpPr>
        <p:spPr>
          <a:xfrm>
            <a:off x="4297680" y="4572000"/>
            <a:ext cx="3593592" cy="1536192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53" name="Shape 456"/>
          <p:cNvSpPr/>
          <p:nvPr/>
        </p:nvSpPr>
        <p:spPr>
          <a:xfrm>
            <a:off x="4480560" y="4754880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54" name="Icon FaMagic 457" descr="Magic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6290" y="4880610"/>
            <a:ext cx="251460" cy="251460"/>
          </a:xfrm>
          <a:prstGeom prst="rect">
            <a:avLst/>
          </a:prstGeom>
        </p:spPr>
      </p:pic>
      <p:sp>
        <p:nvSpPr>
          <p:cNvPr id="55" name="Shape 458"/>
          <p:cNvSpPr/>
          <p:nvPr/>
        </p:nvSpPr>
        <p:spPr>
          <a:xfrm>
            <a:off x="7324344" y="4773168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6" name="Text 459"/>
          <p:cNvSpPr txBox="1"/>
          <p:nvPr/>
        </p:nvSpPr>
        <p:spPr>
          <a:xfrm>
            <a:off x="7324344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8</a:t>
            </a:r>
            <a:endParaRPr lang="en-US" sz="1100" dirty="0"/>
          </a:p>
        </p:txBody>
      </p:sp>
      <p:sp>
        <p:nvSpPr>
          <p:cNvPr id="57" name="Text 460"/>
          <p:cNvSpPr txBox="1"/>
          <p:nvPr/>
        </p:nvSpPr>
        <p:spPr>
          <a:xfrm>
            <a:off x="5166360" y="47548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AI Studio</a:t>
            </a:r>
            <a:endParaRPr lang="en-US" sz="1500" dirty="0"/>
          </a:p>
        </p:txBody>
      </p:sp>
      <p:sp>
        <p:nvSpPr>
          <p:cNvPr id="58" name="Text 461"/>
          <p:cNvSpPr txBox="1"/>
          <p:nvPr/>
        </p:nvSpPr>
        <p:spPr>
          <a:xfrm>
            <a:off x="4480560" y="537667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BLIP captions, hashtags, toxicity filter, bilingual, mood feed, festival mode.</a:t>
            </a:r>
            <a:endParaRPr lang="en-US" sz="1200" dirty="0"/>
          </a:p>
        </p:txBody>
      </p:sp>
      <p:sp>
        <p:nvSpPr>
          <p:cNvPr id="6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Algorithm / Methodology</a:t>
            </a:r>
            <a:endParaRPr lang="en-US" sz="3200" dirty="0"/>
          </a:p>
        </p:txBody>
      </p:sp>
      <p:sp>
        <p:nvSpPr>
          <p:cNvPr id="3" name="Text 469"/>
          <p:cNvSpPr txBox="1"/>
          <p:nvPr/>
        </p:nvSpPr>
        <p:spPr>
          <a:xfrm>
            <a:off x="548640" y="1234440"/>
            <a:ext cx="54607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AI-ASSISTED POST CREATION WORKFLOW (FROM SEQUENCE DIAGRAM)</a:t>
            </a:r>
            <a:endParaRPr lang="en-US" sz="1200" dirty="0"/>
          </a:p>
        </p:txBody>
      </p:sp>
      <p:sp>
        <p:nvSpPr>
          <p:cNvPr id="4" name="Shape 470"/>
          <p:cNvSpPr/>
          <p:nvPr/>
        </p:nvSpPr>
        <p:spPr>
          <a:xfrm>
            <a:off x="548640" y="1600200"/>
            <a:ext cx="16916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5" name="Shape 471"/>
          <p:cNvSpPr/>
          <p:nvPr/>
        </p:nvSpPr>
        <p:spPr>
          <a:xfrm>
            <a:off x="658368" y="17099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72"/>
          <p:cNvSpPr txBox="1"/>
          <p:nvPr/>
        </p:nvSpPr>
        <p:spPr>
          <a:xfrm>
            <a:off x="658368" y="1709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pic>
        <p:nvPicPr>
          <p:cNvPr id="7" name="Icon 473" descr="Select med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368" y="1737360"/>
            <a:ext cx="274320" cy="274320"/>
          </a:xfrm>
          <a:prstGeom prst="rect">
            <a:avLst/>
          </a:prstGeom>
        </p:spPr>
      </p:pic>
      <p:sp>
        <p:nvSpPr>
          <p:cNvPr id="8" name="Text 474"/>
          <p:cNvSpPr txBox="1"/>
          <p:nvPr/>
        </p:nvSpPr>
        <p:spPr>
          <a:xfrm>
            <a:off x="658368" y="214884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Select media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User uploads an image through the UI</a:t>
            </a:r>
            <a:endParaRPr lang="en-US" sz="1400" dirty="0"/>
          </a:p>
        </p:txBody>
      </p:sp>
      <p:sp>
        <p:nvSpPr>
          <p:cNvPr id="9" name="Connector 475"/>
          <p:cNvSpPr/>
          <p:nvPr/>
        </p:nvSpPr>
        <p:spPr>
          <a:xfrm>
            <a:off x="2249424" y="2395728"/>
            <a:ext cx="17007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Shape 476"/>
          <p:cNvSpPr/>
          <p:nvPr/>
        </p:nvSpPr>
        <p:spPr>
          <a:xfrm>
            <a:off x="2428646" y="1600200"/>
            <a:ext cx="16916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1" name="Shape 477"/>
          <p:cNvSpPr/>
          <p:nvPr/>
        </p:nvSpPr>
        <p:spPr>
          <a:xfrm>
            <a:off x="2538374" y="17099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478"/>
          <p:cNvSpPr txBox="1"/>
          <p:nvPr/>
        </p:nvSpPr>
        <p:spPr>
          <a:xfrm>
            <a:off x="2538374" y="1709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pic>
        <p:nvPicPr>
          <p:cNvPr id="13" name="Icon 479" descr="Detect objec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1374" y="1737360"/>
            <a:ext cx="274320" cy="274320"/>
          </a:xfrm>
          <a:prstGeom prst="rect">
            <a:avLst/>
          </a:prstGeom>
        </p:spPr>
      </p:pic>
      <p:sp>
        <p:nvSpPr>
          <p:cNvPr id="14" name="Text 480"/>
          <p:cNvSpPr txBox="1"/>
          <p:nvPr/>
        </p:nvSpPr>
        <p:spPr>
          <a:xfrm>
            <a:off x="2538374" y="214884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Detect objects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AIService returns object labels</a:t>
            </a:r>
            <a:endParaRPr lang="en-US" sz="1400" dirty="0"/>
          </a:p>
        </p:txBody>
      </p:sp>
      <p:sp>
        <p:nvSpPr>
          <p:cNvPr id="15" name="Connector 481"/>
          <p:cNvSpPr/>
          <p:nvPr/>
        </p:nvSpPr>
        <p:spPr>
          <a:xfrm>
            <a:off x="4129430" y="2395728"/>
            <a:ext cx="17007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Shape 482"/>
          <p:cNvSpPr/>
          <p:nvPr/>
        </p:nvSpPr>
        <p:spPr>
          <a:xfrm>
            <a:off x="4308653" y="1600200"/>
            <a:ext cx="16916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7" name="Shape 483"/>
          <p:cNvSpPr/>
          <p:nvPr/>
        </p:nvSpPr>
        <p:spPr>
          <a:xfrm>
            <a:off x="4418381" y="17099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484"/>
          <p:cNvSpPr txBox="1"/>
          <p:nvPr/>
        </p:nvSpPr>
        <p:spPr>
          <a:xfrm>
            <a:off x="4418381" y="1709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pic>
        <p:nvPicPr>
          <p:cNvPr id="19" name="Icon 485" descr="Generate cap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1381" y="1737360"/>
            <a:ext cx="274320" cy="274320"/>
          </a:xfrm>
          <a:prstGeom prst="rect">
            <a:avLst/>
          </a:prstGeom>
        </p:spPr>
      </p:pic>
      <p:sp>
        <p:nvSpPr>
          <p:cNvPr id="20" name="Text 486"/>
          <p:cNvSpPr txBox="1"/>
          <p:nvPr/>
        </p:nvSpPr>
        <p:spPr>
          <a:xfrm>
            <a:off x="4418381" y="214884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Generate caption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Caption and hashtags suggested</a:t>
            </a:r>
            <a:endParaRPr lang="en-US" sz="1400" dirty="0"/>
          </a:p>
        </p:txBody>
      </p:sp>
      <p:sp>
        <p:nvSpPr>
          <p:cNvPr id="21" name="Connector 487"/>
          <p:cNvSpPr/>
          <p:nvPr/>
        </p:nvSpPr>
        <p:spPr>
          <a:xfrm>
            <a:off x="6009437" y="2395728"/>
            <a:ext cx="17007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Shape 488"/>
          <p:cNvSpPr/>
          <p:nvPr/>
        </p:nvSpPr>
        <p:spPr>
          <a:xfrm>
            <a:off x="6188659" y="1600200"/>
            <a:ext cx="16916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23" name="Shape 489"/>
          <p:cNvSpPr/>
          <p:nvPr/>
        </p:nvSpPr>
        <p:spPr>
          <a:xfrm>
            <a:off x="6298387" y="17099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490"/>
          <p:cNvSpPr txBox="1"/>
          <p:nvPr/>
        </p:nvSpPr>
        <p:spPr>
          <a:xfrm>
            <a:off x="6298387" y="1709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pic>
        <p:nvPicPr>
          <p:cNvPr id="25" name="Icon 491" descr="Show suggestion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1387" y="1737360"/>
            <a:ext cx="274320" cy="274320"/>
          </a:xfrm>
          <a:prstGeom prst="rect">
            <a:avLst/>
          </a:prstGeom>
        </p:spPr>
      </p:pic>
      <p:sp>
        <p:nvSpPr>
          <p:cNvPr id="26" name="Text 492"/>
          <p:cNvSpPr txBox="1"/>
          <p:nvPr/>
        </p:nvSpPr>
        <p:spPr>
          <a:xfrm>
            <a:off x="6298387" y="214884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Show suggestions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UI displays them to the user</a:t>
            </a:r>
            <a:endParaRPr lang="en-US" sz="1400" dirty="0"/>
          </a:p>
        </p:txBody>
      </p:sp>
      <p:sp>
        <p:nvSpPr>
          <p:cNvPr id="27" name="Connector 493"/>
          <p:cNvSpPr/>
          <p:nvPr/>
        </p:nvSpPr>
        <p:spPr>
          <a:xfrm>
            <a:off x="7889443" y="2395728"/>
            <a:ext cx="17007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Shape 494"/>
          <p:cNvSpPr/>
          <p:nvPr/>
        </p:nvSpPr>
        <p:spPr>
          <a:xfrm>
            <a:off x="8068666" y="1600200"/>
            <a:ext cx="16916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29" name="Shape 495"/>
          <p:cNvSpPr/>
          <p:nvPr/>
        </p:nvSpPr>
        <p:spPr>
          <a:xfrm>
            <a:off x="8178394" y="17099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496"/>
          <p:cNvSpPr txBox="1"/>
          <p:nvPr/>
        </p:nvSpPr>
        <p:spPr>
          <a:xfrm>
            <a:off x="8178394" y="1709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pic>
        <p:nvPicPr>
          <p:cNvPr id="31" name="Icon 497" descr="Confirm / ed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1394" y="1737360"/>
            <a:ext cx="274320" cy="274320"/>
          </a:xfrm>
          <a:prstGeom prst="rect">
            <a:avLst/>
          </a:prstGeom>
        </p:spPr>
      </p:pic>
      <p:sp>
        <p:nvSpPr>
          <p:cNvPr id="32" name="Text 498"/>
          <p:cNvSpPr txBox="1"/>
          <p:nvPr/>
        </p:nvSpPr>
        <p:spPr>
          <a:xfrm>
            <a:off x="8178394" y="214884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Confirm / edit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User finalizes the caption</a:t>
            </a:r>
            <a:endParaRPr lang="en-US" sz="1400" dirty="0"/>
          </a:p>
        </p:txBody>
      </p:sp>
      <p:sp>
        <p:nvSpPr>
          <p:cNvPr id="33" name="Connector 499"/>
          <p:cNvSpPr/>
          <p:nvPr/>
        </p:nvSpPr>
        <p:spPr>
          <a:xfrm>
            <a:off x="9769450" y="2395728"/>
            <a:ext cx="17007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4" name="Shape 500"/>
          <p:cNvSpPr/>
          <p:nvPr/>
        </p:nvSpPr>
        <p:spPr>
          <a:xfrm>
            <a:off x="9948672" y="1600200"/>
            <a:ext cx="16916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35" name="Shape 501"/>
          <p:cNvSpPr/>
          <p:nvPr/>
        </p:nvSpPr>
        <p:spPr>
          <a:xfrm>
            <a:off x="10058400" y="17099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Text 502"/>
          <p:cNvSpPr txBox="1"/>
          <p:nvPr/>
        </p:nvSpPr>
        <p:spPr>
          <a:xfrm>
            <a:off x="10058400" y="1709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pic>
        <p:nvPicPr>
          <p:cNvPr id="37" name="Icon 503" descr="Save pos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01400" y="1737360"/>
            <a:ext cx="274320" cy="274320"/>
          </a:xfrm>
          <a:prstGeom prst="rect">
            <a:avLst/>
          </a:prstGeom>
        </p:spPr>
      </p:pic>
      <p:sp>
        <p:nvSpPr>
          <p:cNvPr id="38" name="Text 504"/>
          <p:cNvSpPr txBox="1"/>
          <p:nvPr/>
        </p:nvSpPr>
        <p:spPr>
          <a:xfrm>
            <a:off x="10058400" y="214884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Save post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PostService stores it in the database</a:t>
            </a:r>
            <a:endParaRPr lang="en-US" sz="1400" dirty="0"/>
          </a:p>
        </p:txBody>
      </p:sp>
      <p:sp>
        <p:nvSpPr>
          <p:cNvPr id="45" name="Text 511"/>
          <p:cNvSpPr txBox="1"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DEVELOPMENT METHODOLOGY (FROM PROJECT PLAN)</a:t>
            </a:r>
            <a:endParaRPr lang="en-US" sz="1200" dirty="0"/>
          </a:p>
        </p:txBody>
      </p:sp>
      <p:sp>
        <p:nvSpPr>
          <p:cNvPr id="46" name="Shape 512"/>
          <p:cNvSpPr/>
          <p:nvPr/>
        </p:nvSpPr>
        <p:spPr>
          <a:xfrm>
            <a:off x="548640" y="4800600"/>
            <a:ext cx="1691640" cy="868680"/>
          </a:xfrm>
          <a:prstGeom prst="roundRect">
            <a:avLst>
              <a:gd name="adj" fmla="val 10526"/>
            </a:avLst>
          </a:prstGeom>
          <a:solidFill>
            <a:schemeClr val="tx2">
              <a:alpha val="94000"/>
            </a:schemeClr>
          </a:solidFill>
          <a:ln/>
        </p:spPr>
      </p:sp>
      <p:sp>
        <p:nvSpPr>
          <p:cNvPr id="47" name="Text 513"/>
          <p:cNvSpPr txBox="1"/>
          <p:nvPr/>
        </p:nvSpPr>
        <p:spPr>
          <a:xfrm>
            <a:off x="640080" y="48006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4"/>
                </a:solidFill>
              </a:rPr>
              <a:t>1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Requirement Analysis</a:t>
            </a:r>
            <a:endParaRPr lang="en-US" sz="1100" dirty="0"/>
          </a:p>
        </p:txBody>
      </p:sp>
      <p:sp>
        <p:nvSpPr>
          <p:cNvPr id="48" name="Shape 514"/>
          <p:cNvSpPr/>
          <p:nvPr/>
        </p:nvSpPr>
        <p:spPr>
          <a:xfrm>
            <a:off x="2428646" y="4800600"/>
            <a:ext cx="1691640" cy="868680"/>
          </a:xfrm>
          <a:prstGeom prst="roundRect">
            <a:avLst>
              <a:gd name="adj" fmla="val 10526"/>
            </a:avLst>
          </a:prstGeom>
          <a:solidFill>
            <a:schemeClr val="tx2">
              <a:alpha val="94000"/>
            </a:schemeClr>
          </a:solidFill>
          <a:ln/>
        </p:spPr>
      </p:sp>
      <p:sp>
        <p:nvSpPr>
          <p:cNvPr id="49" name="Text 515"/>
          <p:cNvSpPr txBox="1"/>
          <p:nvPr/>
        </p:nvSpPr>
        <p:spPr>
          <a:xfrm>
            <a:off x="2520086" y="48006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4"/>
                </a:solidFill>
              </a:rPr>
              <a:t>2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System Design</a:t>
            </a:r>
            <a:endParaRPr lang="en-US" sz="1100" dirty="0"/>
          </a:p>
        </p:txBody>
      </p:sp>
      <p:sp>
        <p:nvSpPr>
          <p:cNvPr id="50" name="Shape 516"/>
          <p:cNvSpPr/>
          <p:nvPr/>
        </p:nvSpPr>
        <p:spPr>
          <a:xfrm>
            <a:off x="4308653" y="4800600"/>
            <a:ext cx="1691640" cy="868680"/>
          </a:xfrm>
          <a:prstGeom prst="roundRect">
            <a:avLst>
              <a:gd name="adj" fmla="val 10526"/>
            </a:avLst>
          </a:prstGeom>
          <a:solidFill>
            <a:schemeClr val="tx2">
              <a:alpha val="94000"/>
            </a:schemeClr>
          </a:solidFill>
          <a:ln/>
        </p:spPr>
      </p:sp>
      <p:sp>
        <p:nvSpPr>
          <p:cNvPr id="51" name="Text 517"/>
          <p:cNvSpPr txBox="1"/>
          <p:nvPr/>
        </p:nvSpPr>
        <p:spPr>
          <a:xfrm>
            <a:off x="4400093" y="48006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4"/>
                </a:solidFill>
              </a:rPr>
              <a:t>3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Module Setup</a:t>
            </a:r>
            <a:endParaRPr lang="en-US" sz="1100" dirty="0"/>
          </a:p>
        </p:txBody>
      </p:sp>
      <p:sp>
        <p:nvSpPr>
          <p:cNvPr id="52" name="Shape 518"/>
          <p:cNvSpPr/>
          <p:nvPr/>
        </p:nvSpPr>
        <p:spPr>
          <a:xfrm>
            <a:off x="6188659" y="4800600"/>
            <a:ext cx="1691640" cy="868680"/>
          </a:xfrm>
          <a:prstGeom prst="roundRect">
            <a:avLst>
              <a:gd name="adj" fmla="val 10526"/>
            </a:avLst>
          </a:prstGeom>
          <a:solidFill>
            <a:schemeClr val="tx2">
              <a:alpha val="94000"/>
            </a:schemeClr>
          </a:solidFill>
          <a:ln/>
        </p:spPr>
      </p:sp>
      <p:sp>
        <p:nvSpPr>
          <p:cNvPr id="53" name="Text 519"/>
          <p:cNvSpPr txBox="1"/>
          <p:nvPr/>
        </p:nvSpPr>
        <p:spPr>
          <a:xfrm>
            <a:off x="6280099" y="48006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4"/>
                </a:solidFill>
              </a:rPr>
              <a:t>4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Backend &amp; Database</a:t>
            </a:r>
            <a:endParaRPr lang="en-US" sz="1100" dirty="0"/>
          </a:p>
        </p:txBody>
      </p:sp>
      <p:sp>
        <p:nvSpPr>
          <p:cNvPr id="54" name="Shape 520"/>
          <p:cNvSpPr/>
          <p:nvPr/>
        </p:nvSpPr>
        <p:spPr>
          <a:xfrm>
            <a:off x="8068666" y="4800600"/>
            <a:ext cx="1691640" cy="868680"/>
          </a:xfrm>
          <a:prstGeom prst="roundRect">
            <a:avLst>
              <a:gd name="adj" fmla="val 10526"/>
            </a:avLst>
          </a:prstGeom>
          <a:solidFill>
            <a:schemeClr val="tx2">
              <a:alpha val="94000"/>
            </a:schemeClr>
          </a:solidFill>
          <a:ln/>
        </p:spPr>
      </p:sp>
      <p:sp>
        <p:nvSpPr>
          <p:cNvPr id="55" name="Text 521"/>
          <p:cNvSpPr txBox="1"/>
          <p:nvPr/>
        </p:nvSpPr>
        <p:spPr>
          <a:xfrm>
            <a:off x="8160106" y="48006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4"/>
                </a:solidFill>
              </a:rPr>
              <a:t>5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AI / ML Integration</a:t>
            </a:r>
            <a:endParaRPr lang="en-US" sz="1100" dirty="0"/>
          </a:p>
        </p:txBody>
      </p:sp>
      <p:sp>
        <p:nvSpPr>
          <p:cNvPr id="56" name="Shape 522"/>
          <p:cNvSpPr/>
          <p:nvPr/>
        </p:nvSpPr>
        <p:spPr>
          <a:xfrm>
            <a:off x="9948672" y="4800600"/>
            <a:ext cx="16916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57" name="Text 523"/>
          <p:cNvSpPr txBox="1"/>
          <p:nvPr/>
        </p:nvSpPr>
        <p:spPr>
          <a:xfrm>
            <a:off x="10040112" y="48006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4"/>
                </a:solidFill>
              </a:rPr>
              <a:t>6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Testing &amp; Deployment</a:t>
            </a:r>
            <a:endParaRPr lang="en-US" sz="1100" dirty="0"/>
          </a:p>
        </p:txBody>
      </p:sp>
      <p:sp>
        <p:nvSpPr>
          <p:cNvPr id="5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Implementation</a:t>
            </a:r>
            <a:endParaRPr lang="en-US" sz="3200" dirty="0"/>
          </a:p>
        </p:txBody>
      </p:sp>
      <p:sp>
        <p:nvSpPr>
          <p:cNvPr id="3" name="Shape 524"/>
          <p:cNvSpPr/>
          <p:nvPr/>
        </p:nvSpPr>
        <p:spPr>
          <a:xfrm>
            <a:off x="548640" y="132588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4" name="Shape 525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5" name="Icon FaGlobe 526" descr="Glob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45920"/>
            <a:ext cx="274320" cy="274320"/>
          </a:xfrm>
          <a:prstGeom prst="rect">
            <a:avLst/>
          </a:prstGeom>
        </p:spPr>
      </p:pic>
      <p:sp>
        <p:nvSpPr>
          <p:cNvPr id="6" name="Text 527"/>
          <p:cNvSpPr txBox="1"/>
          <p:nvPr/>
        </p:nvSpPr>
        <p:spPr>
          <a:xfrm>
            <a:off x="1508760" y="1508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Presentation layer</a:t>
            </a:r>
            <a:endParaRPr lang="en-US" sz="1600" dirty="0"/>
          </a:p>
        </p:txBody>
      </p:sp>
      <p:sp>
        <p:nvSpPr>
          <p:cNvPr id="7" name="Text 528"/>
          <p:cNvSpPr txBox="1"/>
          <p:nvPr/>
        </p:nvSpPr>
        <p:spPr>
          <a:xfrm>
            <a:off x="777240" y="22402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HTML, CSS and JavaScript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Bootstrap for the interface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Feed, profile, post, messages, search and AI Studio screens</a:t>
            </a:r>
            <a:endParaRPr lang="en-US" sz="1300" dirty="0"/>
          </a:p>
        </p:txBody>
      </p:sp>
      <p:sp>
        <p:nvSpPr>
          <p:cNvPr id="8" name="Shape 529"/>
          <p:cNvSpPr/>
          <p:nvPr/>
        </p:nvSpPr>
        <p:spPr>
          <a:xfrm>
            <a:off x="4297680" y="132588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9" name="Shape 530"/>
          <p:cNvSpPr/>
          <p:nvPr/>
        </p:nvSpPr>
        <p:spPr>
          <a:xfrm>
            <a:off x="4526280" y="150876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0" name="Icon FaServer 531" descr="Serve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645920"/>
            <a:ext cx="274320" cy="274320"/>
          </a:xfrm>
          <a:prstGeom prst="rect">
            <a:avLst/>
          </a:prstGeom>
        </p:spPr>
      </p:pic>
      <p:sp>
        <p:nvSpPr>
          <p:cNvPr id="11" name="Text 532"/>
          <p:cNvSpPr txBox="1"/>
          <p:nvPr/>
        </p:nvSpPr>
        <p:spPr>
          <a:xfrm>
            <a:off x="5257800" y="1508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Flask application layer</a:t>
            </a:r>
            <a:endParaRPr lang="en-US" sz="1600" dirty="0"/>
          </a:p>
        </p:txBody>
      </p:sp>
      <p:sp>
        <p:nvSpPr>
          <p:cNvPr id="12" name="Text 533"/>
          <p:cNvSpPr txBox="1"/>
          <p:nvPr/>
        </p:nvSpPr>
        <p:spPr>
          <a:xfrm>
            <a:off x="4526280" y="22402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Python and Flask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Request routing and views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Business logic for the </a:t>
            </a:r>
            <a:r>
              <a:rPr lang="en-US" sz="1300" dirty="0"/>
              <a:t>eight </a:t>
            </a:r>
            <a:r>
              <a:rPr lang="en-US" sz="1300" dirty="0">
                <a:solidFill>
                  <a:schemeClr val="tx1"/>
                </a:solidFill>
              </a:rPr>
              <a:t>modules</a:t>
            </a:r>
            <a:endParaRPr lang="en-US" sz="1300" dirty="0"/>
          </a:p>
        </p:txBody>
      </p:sp>
      <p:sp>
        <p:nvSpPr>
          <p:cNvPr id="13" name="Shape 534"/>
          <p:cNvSpPr/>
          <p:nvPr/>
        </p:nvSpPr>
        <p:spPr>
          <a:xfrm>
            <a:off x="8046720" y="132588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4" name="Shape 535"/>
          <p:cNvSpPr/>
          <p:nvPr/>
        </p:nvSpPr>
        <p:spPr>
          <a:xfrm>
            <a:off x="8275320" y="150876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5" name="Icon FaDatabase 536" descr="Databas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645920"/>
            <a:ext cx="274320" cy="274320"/>
          </a:xfrm>
          <a:prstGeom prst="rect">
            <a:avLst/>
          </a:prstGeom>
        </p:spPr>
      </p:pic>
      <p:sp>
        <p:nvSpPr>
          <p:cNvPr id="16" name="Text 537"/>
          <p:cNvSpPr txBox="1"/>
          <p:nvPr/>
        </p:nvSpPr>
        <p:spPr>
          <a:xfrm>
            <a:off x="9006840" y="1508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SQLite database</a:t>
            </a:r>
            <a:endParaRPr lang="en-US" sz="1600" dirty="0"/>
          </a:p>
        </p:txBody>
      </p:sp>
      <p:sp>
        <p:nvSpPr>
          <p:cNvPr id="17" name="Text 538"/>
          <p:cNvSpPr txBox="1"/>
          <p:nvPr/>
        </p:nvSpPr>
        <p:spPr>
          <a:xfrm>
            <a:off x="8275320" y="22402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Users, profiles, posts, reels, stories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Messages, likes, comments, follows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Reports, feature flags and logs</a:t>
            </a:r>
            <a:endParaRPr lang="en-US" sz="1300" dirty="0"/>
          </a:p>
        </p:txBody>
      </p:sp>
      <p:sp>
        <p:nvSpPr>
          <p:cNvPr id="18" name="Shape 539"/>
          <p:cNvSpPr/>
          <p:nvPr/>
        </p:nvSpPr>
        <p:spPr>
          <a:xfrm>
            <a:off x="548640" y="384048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9" name="Shape 540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0" name="Icon FaBrain 541" descr="Brain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160520"/>
            <a:ext cx="274320" cy="274320"/>
          </a:xfrm>
          <a:prstGeom prst="rect">
            <a:avLst/>
          </a:prstGeom>
        </p:spPr>
      </p:pic>
      <p:sp>
        <p:nvSpPr>
          <p:cNvPr id="21" name="Text 542"/>
          <p:cNvSpPr txBox="1"/>
          <p:nvPr/>
        </p:nvSpPr>
        <p:spPr>
          <a:xfrm>
            <a:off x="1508760" y="40233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 processing</a:t>
            </a:r>
            <a:endParaRPr lang="en-US" sz="1600" dirty="0"/>
          </a:p>
        </p:txBody>
      </p:sp>
      <p:sp>
        <p:nvSpPr>
          <p:cNvPr id="22" name="Text 543"/>
          <p:cNvSpPr txBox="1"/>
          <p:nvPr/>
        </p:nvSpPr>
        <p:spPr>
          <a:xfrm>
            <a:off x="777240" y="47548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PyTorch and OpenCV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BLIP image captioning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Recommendation and moderation engines</a:t>
            </a:r>
            <a:endParaRPr lang="en-US" sz="1300" dirty="0"/>
          </a:p>
        </p:txBody>
      </p:sp>
      <p:sp>
        <p:nvSpPr>
          <p:cNvPr id="23" name="Shape 544"/>
          <p:cNvSpPr/>
          <p:nvPr/>
        </p:nvSpPr>
        <p:spPr>
          <a:xfrm>
            <a:off x="4297680" y="384048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24" name="Shape 545"/>
          <p:cNvSpPr/>
          <p:nvPr/>
        </p:nvSpPr>
        <p:spPr>
          <a:xfrm>
            <a:off x="4526280" y="402336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5" name="Icon FaLock 546" descr="Lock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4160520"/>
            <a:ext cx="274320" cy="274320"/>
          </a:xfrm>
          <a:prstGeom prst="rect">
            <a:avLst/>
          </a:prstGeom>
        </p:spPr>
      </p:pic>
      <p:sp>
        <p:nvSpPr>
          <p:cNvPr id="26" name="Text 547"/>
          <p:cNvSpPr txBox="1"/>
          <p:nvPr/>
        </p:nvSpPr>
        <p:spPr>
          <a:xfrm>
            <a:off x="5257800" y="40233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Security &amp; sessions</a:t>
            </a:r>
            <a:endParaRPr lang="en-US" sz="1600" dirty="0"/>
          </a:p>
        </p:txBody>
      </p:sp>
      <p:sp>
        <p:nvSpPr>
          <p:cNvPr id="27" name="Text 548"/>
          <p:cNvSpPr txBox="1"/>
          <p:nvPr/>
        </p:nvSpPr>
        <p:spPr>
          <a:xfrm>
            <a:off x="4526280" y="47548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Flask-Login sessions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Password reset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Private accounts and follow approval</a:t>
            </a:r>
            <a:endParaRPr lang="en-US" sz="1300" dirty="0"/>
          </a:p>
        </p:txBody>
      </p:sp>
      <p:sp>
        <p:nvSpPr>
          <p:cNvPr id="28" name="Shape 549"/>
          <p:cNvSpPr/>
          <p:nvPr/>
        </p:nvSpPr>
        <p:spPr>
          <a:xfrm>
            <a:off x="8046720" y="384048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29" name="Shape 550"/>
          <p:cNvSpPr/>
          <p:nvPr/>
        </p:nvSpPr>
        <p:spPr>
          <a:xfrm>
            <a:off x="8275320" y="402336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0" name="Icon FaToggleOn 551" descr="ToggleOn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4160520"/>
            <a:ext cx="274320" cy="274320"/>
          </a:xfrm>
          <a:prstGeom prst="rect">
            <a:avLst/>
          </a:prstGeom>
        </p:spPr>
      </p:pic>
      <p:sp>
        <p:nvSpPr>
          <p:cNvPr id="31" name="Text 552"/>
          <p:cNvSpPr txBox="1"/>
          <p:nvPr/>
        </p:nvSpPr>
        <p:spPr>
          <a:xfrm>
            <a:off x="9006840" y="40233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Admin &amp; safety</a:t>
            </a:r>
            <a:endParaRPr lang="en-US" sz="1600" dirty="0"/>
          </a:p>
        </p:txBody>
      </p:sp>
      <p:sp>
        <p:nvSpPr>
          <p:cNvPr id="32" name="Text 553"/>
          <p:cNvSpPr txBox="1"/>
          <p:nvPr/>
        </p:nvSpPr>
        <p:spPr>
          <a:xfrm>
            <a:off x="8275320" y="47548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Feature flags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User management, reports and analytics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Block, mute, restrict and report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Results / Analysis</a:t>
            </a:r>
            <a:endParaRPr lang="en-US" sz="3200" dirty="0"/>
          </a:p>
        </p:txBody>
      </p:sp>
      <p:sp>
        <p:nvSpPr>
          <p:cNvPr id="5" name="Shape 556"/>
          <p:cNvSpPr/>
          <p:nvPr/>
        </p:nvSpPr>
        <p:spPr>
          <a:xfrm>
            <a:off x="548640" y="2057400"/>
            <a:ext cx="26517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6" name="Shape 557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7" name="Icon FaLock 558" descr="Lo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366010"/>
            <a:ext cx="251460" cy="251460"/>
          </a:xfrm>
          <a:prstGeom prst="rect">
            <a:avLst/>
          </a:prstGeom>
        </p:spPr>
      </p:pic>
      <p:sp>
        <p:nvSpPr>
          <p:cNvPr id="8" name="Text 559"/>
          <p:cNvSpPr txBox="1"/>
          <p:nvPr/>
        </p:nvSpPr>
        <p:spPr>
          <a:xfrm>
            <a:off x="731520" y="2834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Login &amp; registration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Account screens implemented.</a:t>
            </a:r>
            <a:endParaRPr lang="en-US" sz="1400" dirty="0"/>
          </a:p>
        </p:txBody>
      </p:sp>
      <p:sp>
        <p:nvSpPr>
          <p:cNvPr id="9" name="Shape 560"/>
          <p:cNvSpPr/>
          <p:nvPr/>
        </p:nvSpPr>
        <p:spPr>
          <a:xfrm>
            <a:off x="3355848" y="2057400"/>
            <a:ext cx="26517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0" name="Shape 561"/>
          <p:cNvSpPr/>
          <p:nvPr/>
        </p:nvSpPr>
        <p:spPr>
          <a:xfrm>
            <a:off x="3538728" y="2240280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1" name="Icon FaCompass 562" descr="Compas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458" y="2366010"/>
            <a:ext cx="251460" cy="251460"/>
          </a:xfrm>
          <a:prstGeom prst="rect">
            <a:avLst/>
          </a:prstGeom>
        </p:spPr>
      </p:pic>
      <p:sp>
        <p:nvSpPr>
          <p:cNvPr id="12" name="Text 563"/>
          <p:cNvSpPr txBox="1"/>
          <p:nvPr/>
        </p:nvSpPr>
        <p:spPr>
          <a:xfrm>
            <a:off x="3538728" y="2834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Home feed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Feed with suggested users and an AI panel.</a:t>
            </a:r>
            <a:endParaRPr lang="en-US" sz="1400" dirty="0"/>
          </a:p>
        </p:txBody>
      </p:sp>
      <p:sp>
        <p:nvSpPr>
          <p:cNvPr id="13" name="Shape 564"/>
          <p:cNvSpPr/>
          <p:nvPr/>
        </p:nvSpPr>
        <p:spPr>
          <a:xfrm>
            <a:off x="6163056" y="2057400"/>
            <a:ext cx="26517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4" name="Shape 565"/>
          <p:cNvSpPr/>
          <p:nvPr/>
        </p:nvSpPr>
        <p:spPr>
          <a:xfrm>
            <a:off x="6345936" y="2240280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5" name="Icon FaUser 566" descr="Use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1666" y="2366010"/>
            <a:ext cx="251460" cy="251460"/>
          </a:xfrm>
          <a:prstGeom prst="rect">
            <a:avLst/>
          </a:prstGeom>
        </p:spPr>
      </p:pic>
      <p:sp>
        <p:nvSpPr>
          <p:cNvPr id="16" name="Text 567"/>
          <p:cNvSpPr txBox="1"/>
          <p:nvPr/>
        </p:nvSpPr>
        <p:spPr>
          <a:xfrm>
            <a:off x="6345936" y="2834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Profile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Profile page showing posts and counts.</a:t>
            </a:r>
            <a:endParaRPr lang="en-US" sz="1400" dirty="0"/>
          </a:p>
        </p:txBody>
      </p:sp>
      <p:sp>
        <p:nvSpPr>
          <p:cNvPr id="17" name="Shape 568"/>
          <p:cNvSpPr/>
          <p:nvPr/>
        </p:nvSpPr>
        <p:spPr>
          <a:xfrm>
            <a:off x="8970264" y="2057400"/>
            <a:ext cx="26517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8" name="Shape 569"/>
          <p:cNvSpPr/>
          <p:nvPr/>
        </p:nvSpPr>
        <p:spPr>
          <a:xfrm>
            <a:off x="9153144" y="2240280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9" name="Icon FaMagic 570" descr="Magic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8874" y="2366010"/>
            <a:ext cx="251460" cy="251460"/>
          </a:xfrm>
          <a:prstGeom prst="rect">
            <a:avLst/>
          </a:prstGeom>
        </p:spPr>
      </p:pic>
      <p:sp>
        <p:nvSpPr>
          <p:cNvPr id="20" name="Text 571"/>
          <p:cNvSpPr txBox="1"/>
          <p:nvPr/>
        </p:nvSpPr>
        <p:spPr>
          <a:xfrm>
            <a:off x="9153144" y="2834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Post creation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New post screen with Local AI Studio options.</a:t>
            </a:r>
            <a:endParaRPr lang="en-US" sz="1400" dirty="0"/>
          </a:p>
        </p:txBody>
      </p:sp>
      <p:sp>
        <p:nvSpPr>
          <p:cNvPr id="21" name="Shape 572"/>
          <p:cNvSpPr/>
          <p:nvPr/>
        </p:nvSpPr>
        <p:spPr>
          <a:xfrm>
            <a:off x="548640" y="4023360"/>
            <a:ext cx="26517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22" name="Shape 573"/>
          <p:cNvSpPr/>
          <p:nvPr/>
        </p:nvSpPr>
        <p:spPr>
          <a:xfrm>
            <a:off x="731520" y="4206240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3" name="Icon FaEnvelope 574" descr="Envelop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4331970"/>
            <a:ext cx="251460" cy="251460"/>
          </a:xfrm>
          <a:prstGeom prst="rect">
            <a:avLst/>
          </a:prstGeom>
        </p:spPr>
      </p:pic>
      <p:sp>
        <p:nvSpPr>
          <p:cNvPr id="24" name="Text 575"/>
          <p:cNvSpPr txBox="1"/>
          <p:nvPr/>
        </p:nvSpPr>
        <p:spPr>
          <a:xfrm>
            <a:off x="731520" y="4800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Messaging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Inbox with a list of conversations.</a:t>
            </a:r>
            <a:endParaRPr lang="en-US" sz="1400" dirty="0"/>
          </a:p>
        </p:txBody>
      </p:sp>
      <p:sp>
        <p:nvSpPr>
          <p:cNvPr id="25" name="Shape 576"/>
          <p:cNvSpPr/>
          <p:nvPr/>
        </p:nvSpPr>
        <p:spPr>
          <a:xfrm>
            <a:off x="3355848" y="4023360"/>
            <a:ext cx="26517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26" name="Shape 577"/>
          <p:cNvSpPr/>
          <p:nvPr/>
        </p:nvSpPr>
        <p:spPr>
          <a:xfrm>
            <a:off x="3538728" y="4206240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7" name="Icon FaSearch 578" descr="Search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4458" y="4331970"/>
            <a:ext cx="251460" cy="251460"/>
          </a:xfrm>
          <a:prstGeom prst="rect">
            <a:avLst/>
          </a:prstGeom>
        </p:spPr>
      </p:pic>
      <p:sp>
        <p:nvSpPr>
          <p:cNvPr id="28" name="Text 579"/>
          <p:cNvSpPr txBox="1"/>
          <p:nvPr/>
        </p:nvSpPr>
        <p:spPr>
          <a:xfrm>
            <a:off x="3538728" y="4800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Search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User search with follow actions.</a:t>
            </a:r>
            <a:endParaRPr lang="en-US" sz="1400" dirty="0"/>
          </a:p>
        </p:txBody>
      </p:sp>
      <p:sp>
        <p:nvSpPr>
          <p:cNvPr id="29" name="Shape 580"/>
          <p:cNvSpPr/>
          <p:nvPr/>
        </p:nvSpPr>
        <p:spPr>
          <a:xfrm>
            <a:off x="6163056" y="4023360"/>
            <a:ext cx="26517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30" name="Shape 581"/>
          <p:cNvSpPr/>
          <p:nvPr/>
        </p:nvSpPr>
        <p:spPr>
          <a:xfrm>
            <a:off x="6345936" y="4206240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1" name="Icon FaSmile 582" descr="Smile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1666" y="4331970"/>
            <a:ext cx="251460" cy="251460"/>
          </a:xfrm>
          <a:prstGeom prst="rect">
            <a:avLst/>
          </a:prstGeom>
        </p:spPr>
      </p:pic>
      <p:sp>
        <p:nvSpPr>
          <p:cNvPr id="32" name="Text 583"/>
          <p:cNvSpPr txBox="1"/>
          <p:nvPr/>
        </p:nvSpPr>
        <p:spPr>
          <a:xfrm>
            <a:off x="6345936" y="4800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Mood feed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Mood selection page for the feed.</a:t>
            </a:r>
            <a:endParaRPr lang="en-US" sz="1400" dirty="0"/>
          </a:p>
        </p:txBody>
      </p:sp>
      <p:sp>
        <p:nvSpPr>
          <p:cNvPr id="37" name="Text 588"/>
          <p:cNvSpPr txBox="1"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50164" y="336195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Screenshots / Output</a:t>
            </a:r>
            <a:endParaRPr lang="en-US" sz="3200" dirty="0"/>
          </a:p>
        </p:txBody>
      </p:sp>
      <p:sp>
        <p:nvSpPr>
          <p:cNvPr id="5" name="Text 590"/>
          <p:cNvSpPr txBox="1"/>
          <p:nvPr/>
        </p:nvSpPr>
        <p:spPr>
          <a:xfrm>
            <a:off x="4505179" y="5520211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Login</a:t>
            </a:r>
            <a:endParaRPr lang="en-US" sz="20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BE26EC7-E22C-40EF-B0FF-367CF85C4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64" y="1314451"/>
            <a:ext cx="9821008" cy="422909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3051A-9311-4877-B9D6-95CDB037F2D3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Registration 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7771B0-1EC8-45FF-B847-81AE02704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908" y="1428900"/>
            <a:ext cx="9627577" cy="447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187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66BB0-2043-4576-880A-C3EA2BCBA3AD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Home Feed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BA1CEF-F759-4A4C-9E65-3E77423CC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563" y="1002322"/>
            <a:ext cx="9917722" cy="501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26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F25BD-3E30-4AED-9B81-EE467B38A2B0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Create Post with Local AI Studio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582C58-1280-4DB9-98C9-6274EF425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207" y="1403890"/>
            <a:ext cx="6739695" cy="442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9517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29092-EC4C-4C80-A7D4-2D633061EEBB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User Profile Page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2CB2B1-6709-4850-960B-5FCC14921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957" y="1754921"/>
            <a:ext cx="5859557" cy="371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5048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Comparison with Existing System</a:t>
            </a:r>
            <a:endParaRPr lang="en-US" sz="3200" dirty="0"/>
          </a:p>
        </p:txBody>
      </p:sp>
      <p:graphicFrame>
        <p:nvGraphicFramePr>
          <p:cNvPr id="20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465429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Existing System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Nila Social Media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Posts, likes, comments, follow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Provided as standard features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Provided, with private accounts and follow approval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Captions &amp; hashtags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Written manually by the user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AI-assisted caption and hashtag suggestions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Image recognition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automated object or scene identification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Computer vision for smart tagging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Story duration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Fixed 24-hour window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Extended stories with viewer tracking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Spam &amp; fake accounts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Weak detection without ML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ML classifier for spam and fake accounts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Comment moderation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 covered in the source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Toxicity filter in Local AI Studio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Privacy controls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 covered in the source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Private accounts, block, mute, restrict, report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Administration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 covered in the source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Feature flags, user management, reports and analytics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605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"Existing System" means basic social media apps as described in the project problem statement.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Testing</a:t>
            </a:r>
            <a:endParaRPr lang="en-US" sz="3200" dirty="0"/>
          </a:p>
        </p:txBody>
      </p:sp>
      <p:sp>
        <p:nvSpPr>
          <p:cNvPr id="3" name="Shape 606"/>
          <p:cNvSpPr/>
          <p:nvPr/>
        </p:nvSpPr>
        <p:spPr>
          <a:xfrm>
            <a:off x="548640" y="1325880"/>
            <a:ext cx="3383280" cy="1078992"/>
          </a:xfrm>
          <a:prstGeom prst="roundRect">
            <a:avLst>
              <a:gd name="adj" fmla="val 10169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4" name="Shape 607"/>
          <p:cNvSpPr/>
          <p:nvPr/>
        </p:nvSpPr>
        <p:spPr>
          <a:xfrm>
            <a:off x="731520" y="1563624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5" name="Icon FaFlask 608" descr="Flas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1712214"/>
            <a:ext cx="297180" cy="297180"/>
          </a:xfrm>
          <a:prstGeom prst="rect">
            <a:avLst/>
          </a:prstGeom>
        </p:spPr>
      </p:pic>
      <p:sp>
        <p:nvSpPr>
          <p:cNvPr id="6" name="Text 609"/>
          <p:cNvSpPr txBox="1"/>
          <p:nvPr/>
        </p:nvSpPr>
        <p:spPr>
          <a:xfrm>
            <a:off x="1508760" y="1325880"/>
            <a:ext cx="2331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Unit Testing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Individual functions and modules</a:t>
            </a:r>
            <a:endParaRPr lang="en-US" sz="1500" dirty="0"/>
          </a:p>
        </p:txBody>
      </p:sp>
      <p:sp>
        <p:nvSpPr>
          <p:cNvPr id="7" name="Shape 610"/>
          <p:cNvSpPr/>
          <p:nvPr/>
        </p:nvSpPr>
        <p:spPr>
          <a:xfrm>
            <a:off x="548640" y="2514600"/>
            <a:ext cx="3383280" cy="1078992"/>
          </a:xfrm>
          <a:prstGeom prst="roundRect">
            <a:avLst>
              <a:gd name="adj" fmla="val 10169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8" name="Shape 611"/>
          <p:cNvSpPr/>
          <p:nvPr/>
        </p:nvSpPr>
        <p:spPr>
          <a:xfrm>
            <a:off x="731520" y="2752344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9" name="Icon FaPlug 612" descr="Plu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" y="2900934"/>
            <a:ext cx="297180" cy="297180"/>
          </a:xfrm>
          <a:prstGeom prst="rect">
            <a:avLst/>
          </a:prstGeom>
        </p:spPr>
      </p:pic>
      <p:sp>
        <p:nvSpPr>
          <p:cNvPr id="10" name="Text 613"/>
          <p:cNvSpPr txBox="1"/>
          <p:nvPr/>
        </p:nvSpPr>
        <p:spPr>
          <a:xfrm>
            <a:off x="1508760" y="2514600"/>
            <a:ext cx="2331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Integration Testing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Modules, AI services and SQLite together</a:t>
            </a:r>
            <a:endParaRPr lang="en-US" sz="1500" dirty="0"/>
          </a:p>
        </p:txBody>
      </p:sp>
      <p:sp>
        <p:nvSpPr>
          <p:cNvPr id="11" name="Shape 614"/>
          <p:cNvSpPr/>
          <p:nvPr/>
        </p:nvSpPr>
        <p:spPr>
          <a:xfrm>
            <a:off x="548640" y="3703320"/>
            <a:ext cx="3383280" cy="1078992"/>
          </a:xfrm>
          <a:prstGeom prst="roundRect">
            <a:avLst>
              <a:gd name="adj" fmla="val 10169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2" name="Shape 615"/>
          <p:cNvSpPr/>
          <p:nvPr/>
        </p:nvSpPr>
        <p:spPr>
          <a:xfrm>
            <a:off x="731520" y="3941064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3" name="Icon FaProjectDiagram 616" descr="ProjectDiagram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" y="4089654"/>
            <a:ext cx="297180" cy="297180"/>
          </a:xfrm>
          <a:prstGeom prst="rect">
            <a:avLst/>
          </a:prstGeom>
        </p:spPr>
      </p:pic>
      <p:sp>
        <p:nvSpPr>
          <p:cNvPr id="14" name="Text 617"/>
          <p:cNvSpPr txBox="1"/>
          <p:nvPr/>
        </p:nvSpPr>
        <p:spPr>
          <a:xfrm>
            <a:off x="1508760" y="3703320"/>
            <a:ext cx="2331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System Testing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Complete user and admin workflows</a:t>
            </a:r>
            <a:endParaRPr lang="en-US" sz="1500" dirty="0"/>
          </a:p>
        </p:txBody>
      </p:sp>
      <p:sp>
        <p:nvSpPr>
          <p:cNvPr id="15" name="Shape 618"/>
          <p:cNvSpPr/>
          <p:nvPr/>
        </p:nvSpPr>
        <p:spPr>
          <a:xfrm>
            <a:off x="548640" y="4892040"/>
            <a:ext cx="3383280" cy="1078992"/>
          </a:xfrm>
          <a:prstGeom prst="roundRect">
            <a:avLst>
              <a:gd name="adj" fmla="val 10169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6" name="Shape 619"/>
          <p:cNvSpPr/>
          <p:nvPr/>
        </p:nvSpPr>
        <p:spPr>
          <a:xfrm>
            <a:off x="731520" y="5129784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7" name="Icon FaUserCheck 620" descr="UserChec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110" y="5278374"/>
            <a:ext cx="297180" cy="297180"/>
          </a:xfrm>
          <a:prstGeom prst="rect">
            <a:avLst/>
          </a:prstGeom>
        </p:spPr>
      </p:pic>
      <p:sp>
        <p:nvSpPr>
          <p:cNvPr id="18" name="Text 621"/>
          <p:cNvSpPr txBox="1"/>
          <p:nvPr/>
        </p:nvSpPr>
        <p:spPr>
          <a:xfrm>
            <a:off x="1508760" y="4892040"/>
            <a:ext cx="2331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User Acceptance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Feedback from users, if applicable</a:t>
            </a:r>
            <a:endParaRPr lang="en-US" sz="1500" dirty="0"/>
          </a:p>
        </p:txBody>
      </p:sp>
      <p:graphicFrame>
        <p:nvGraphicFramePr>
          <p:cNvPr id="21" name="Test cas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325880"/>
          <a:ext cx="7479792" cy="4407408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Expected Result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Actual Result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User registration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Account created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Account created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Login / logout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Session started and ended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Session started and ended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Create post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Post saved and shown in feed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Post saved and shown in feed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AI caption &amp; hashtags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Suggestions displayed for the upload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Suggestions displayed for the upload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Follow a private account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Request sent, then approved by owner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Request sent and approved by owner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Send direct message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Message appears in the conversation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Message appeared in the conversation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Toxic comment check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Comment flagged by the filter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Comment flagged by the filter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Admin user management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User can be activated or deactivated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User activated and deactivated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622"/>
          <p:cNvSpPr txBox="1"/>
          <p:nvPr/>
        </p:nvSpPr>
        <p:spPr>
          <a:xfrm>
            <a:off x="4160520" y="5852160"/>
            <a:ext cx="7479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Results recorded from manual functional testing of the project; no test statistics are claimed.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Demo Video</a:t>
            </a:r>
            <a:endParaRPr lang="en-US" sz="3200" dirty="0"/>
          </a:p>
        </p:txBody>
      </p:sp>
      <p:sp>
        <p:nvSpPr>
          <p:cNvPr id="3" name="Shape 623"/>
          <p:cNvSpPr/>
          <p:nvPr/>
        </p:nvSpPr>
        <p:spPr>
          <a:xfrm>
            <a:off x="548640" y="1325880"/>
            <a:ext cx="6766560" cy="448056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4" name="Shape 624"/>
          <p:cNvSpPr/>
          <p:nvPr/>
        </p:nvSpPr>
        <p:spPr>
          <a:xfrm>
            <a:off x="3200400" y="2103120"/>
            <a:ext cx="1463040" cy="14630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play 625" descr="pl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2606040"/>
            <a:ext cx="548640" cy="548640"/>
          </a:xfrm>
          <a:prstGeom prst="rect">
            <a:avLst/>
          </a:prstGeom>
        </p:spPr>
      </p:pic>
      <p:sp>
        <p:nvSpPr>
          <p:cNvPr id="6" name="Text 626"/>
          <p:cNvSpPr txBox="1"/>
          <p:nvPr/>
        </p:nvSpPr>
        <p:spPr>
          <a:xfrm>
            <a:off x="548640" y="393192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b="1" kern="0" spc="200" dirty="0">
                <a:solidFill>
                  <a:schemeClr val="bg1"/>
                </a:solidFill>
              </a:rPr>
              <a:t>PROJECT DEMONSTRATION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Nila Social Media  ·  video to be embedded here</a:t>
            </a:r>
            <a:endParaRPr lang="en-US" sz="2400" dirty="0"/>
          </a:p>
        </p:txBody>
      </p:sp>
      <p:sp>
        <p:nvSpPr>
          <p:cNvPr id="7" name="Shape 627"/>
          <p:cNvSpPr/>
          <p:nvPr/>
        </p:nvSpPr>
        <p:spPr>
          <a:xfrm>
            <a:off x="7589520" y="1325880"/>
            <a:ext cx="4050792" cy="3430758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628"/>
          <p:cNvSpPr txBox="1"/>
          <p:nvPr/>
        </p:nvSpPr>
        <p:spPr>
          <a:xfrm>
            <a:off x="78181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Suggested demo flow</a:t>
            </a:r>
            <a:endParaRPr lang="en-US" sz="1500" dirty="0"/>
          </a:p>
        </p:txBody>
      </p:sp>
      <p:sp>
        <p:nvSpPr>
          <p:cNvPr id="9" name="Shape 629"/>
          <p:cNvSpPr/>
          <p:nvPr/>
        </p:nvSpPr>
        <p:spPr>
          <a:xfrm>
            <a:off x="7818120" y="18745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630"/>
          <p:cNvSpPr txBox="1"/>
          <p:nvPr/>
        </p:nvSpPr>
        <p:spPr>
          <a:xfrm>
            <a:off x="78181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631"/>
          <p:cNvSpPr txBox="1"/>
          <p:nvPr/>
        </p:nvSpPr>
        <p:spPr>
          <a:xfrm>
            <a:off x="818388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Login</a:t>
            </a:r>
            <a:endParaRPr lang="en-US" sz="1200" dirty="0"/>
          </a:p>
        </p:txBody>
      </p:sp>
      <p:sp>
        <p:nvSpPr>
          <p:cNvPr id="12" name="Shape 632"/>
          <p:cNvSpPr/>
          <p:nvPr/>
        </p:nvSpPr>
        <p:spPr>
          <a:xfrm>
            <a:off x="9738360" y="18745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633"/>
          <p:cNvSpPr txBox="1"/>
          <p:nvPr/>
        </p:nvSpPr>
        <p:spPr>
          <a:xfrm>
            <a:off x="9738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634"/>
          <p:cNvSpPr txBox="1"/>
          <p:nvPr/>
        </p:nvSpPr>
        <p:spPr>
          <a:xfrm>
            <a:off x="1010412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Profile</a:t>
            </a:r>
            <a:endParaRPr lang="en-US" sz="1200" dirty="0"/>
          </a:p>
        </p:txBody>
      </p:sp>
      <p:sp>
        <p:nvSpPr>
          <p:cNvPr id="15" name="Shape 635"/>
          <p:cNvSpPr/>
          <p:nvPr/>
        </p:nvSpPr>
        <p:spPr>
          <a:xfrm>
            <a:off x="7818120" y="237744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636"/>
          <p:cNvSpPr txBox="1"/>
          <p:nvPr/>
        </p:nvSpPr>
        <p:spPr>
          <a:xfrm>
            <a:off x="781812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637"/>
          <p:cNvSpPr txBox="1"/>
          <p:nvPr/>
        </p:nvSpPr>
        <p:spPr>
          <a:xfrm>
            <a:off x="818388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Create post</a:t>
            </a:r>
            <a:endParaRPr lang="en-US" sz="1200" dirty="0"/>
          </a:p>
        </p:txBody>
      </p:sp>
      <p:sp>
        <p:nvSpPr>
          <p:cNvPr id="18" name="Shape 638"/>
          <p:cNvSpPr/>
          <p:nvPr/>
        </p:nvSpPr>
        <p:spPr>
          <a:xfrm>
            <a:off x="9738360" y="237744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639"/>
          <p:cNvSpPr txBox="1"/>
          <p:nvPr/>
        </p:nvSpPr>
        <p:spPr>
          <a:xfrm>
            <a:off x="973836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640"/>
          <p:cNvSpPr txBox="1"/>
          <p:nvPr/>
        </p:nvSpPr>
        <p:spPr>
          <a:xfrm>
            <a:off x="1010412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Feed</a:t>
            </a:r>
            <a:endParaRPr lang="en-US" sz="1200" dirty="0"/>
          </a:p>
        </p:txBody>
      </p:sp>
      <p:sp>
        <p:nvSpPr>
          <p:cNvPr id="21" name="Shape 641"/>
          <p:cNvSpPr/>
          <p:nvPr/>
        </p:nvSpPr>
        <p:spPr>
          <a:xfrm>
            <a:off x="7818120" y="288036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642"/>
          <p:cNvSpPr txBox="1"/>
          <p:nvPr/>
        </p:nvSpPr>
        <p:spPr>
          <a:xfrm>
            <a:off x="781812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643"/>
          <p:cNvSpPr txBox="1"/>
          <p:nvPr/>
        </p:nvSpPr>
        <p:spPr>
          <a:xfrm>
            <a:off x="818388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Stories / Reels</a:t>
            </a:r>
            <a:endParaRPr lang="en-US" sz="1200" dirty="0"/>
          </a:p>
        </p:txBody>
      </p:sp>
      <p:sp>
        <p:nvSpPr>
          <p:cNvPr id="24" name="Shape 644"/>
          <p:cNvSpPr/>
          <p:nvPr/>
        </p:nvSpPr>
        <p:spPr>
          <a:xfrm>
            <a:off x="9738360" y="288036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645"/>
          <p:cNvSpPr txBox="1"/>
          <p:nvPr/>
        </p:nvSpPr>
        <p:spPr>
          <a:xfrm>
            <a:off x="973836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Text 646"/>
          <p:cNvSpPr txBox="1"/>
          <p:nvPr/>
        </p:nvSpPr>
        <p:spPr>
          <a:xfrm>
            <a:off x="1010412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Social interaction</a:t>
            </a:r>
            <a:endParaRPr lang="en-US" sz="1200" dirty="0"/>
          </a:p>
        </p:txBody>
      </p:sp>
      <p:sp>
        <p:nvSpPr>
          <p:cNvPr id="27" name="Shape 647"/>
          <p:cNvSpPr/>
          <p:nvPr/>
        </p:nvSpPr>
        <p:spPr>
          <a:xfrm>
            <a:off x="7818120" y="338328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648"/>
          <p:cNvSpPr txBox="1"/>
          <p:nvPr/>
        </p:nvSpPr>
        <p:spPr>
          <a:xfrm>
            <a:off x="781812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7</a:t>
            </a:r>
            <a:endParaRPr lang="en-US" sz="1000" dirty="0"/>
          </a:p>
        </p:txBody>
      </p:sp>
      <p:sp>
        <p:nvSpPr>
          <p:cNvPr id="29" name="Text 649"/>
          <p:cNvSpPr txBox="1"/>
          <p:nvPr/>
        </p:nvSpPr>
        <p:spPr>
          <a:xfrm>
            <a:off x="818388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Messaging</a:t>
            </a:r>
            <a:endParaRPr lang="en-US" sz="1200" dirty="0"/>
          </a:p>
        </p:txBody>
      </p:sp>
      <p:sp>
        <p:nvSpPr>
          <p:cNvPr id="30" name="Shape 650"/>
          <p:cNvSpPr/>
          <p:nvPr/>
        </p:nvSpPr>
        <p:spPr>
          <a:xfrm>
            <a:off x="9738360" y="338328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651"/>
          <p:cNvSpPr txBox="1"/>
          <p:nvPr/>
        </p:nvSpPr>
        <p:spPr>
          <a:xfrm>
            <a:off x="973836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8</a:t>
            </a:r>
            <a:endParaRPr lang="en-US" sz="1000" dirty="0"/>
          </a:p>
        </p:txBody>
      </p:sp>
      <p:sp>
        <p:nvSpPr>
          <p:cNvPr id="32" name="Text 652"/>
          <p:cNvSpPr txBox="1"/>
          <p:nvPr/>
        </p:nvSpPr>
        <p:spPr>
          <a:xfrm>
            <a:off x="1010412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AI assistance</a:t>
            </a:r>
            <a:endParaRPr lang="en-US" sz="1200" dirty="0"/>
          </a:p>
        </p:txBody>
      </p:sp>
      <p:sp>
        <p:nvSpPr>
          <p:cNvPr id="33" name="Shape 653"/>
          <p:cNvSpPr/>
          <p:nvPr/>
        </p:nvSpPr>
        <p:spPr>
          <a:xfrm>
            <a:off x="7818120" y="388620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654"/>
          <p:cNvSpPr txBox="1"/>
          <p:nvPr/>
        </p:nvSpPr>
        <p:spPr>
          <a:xfrm>
            <a:off x="781812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9</a:t>
            </a:r>
            <a:endParaRPr lang="en-US" sz="1000" dirty="0"/>
          </a:p>
        </p:txBody>
      </p:sp>
      <p:sp>
        <p:nvSpPr>
          <p:cNvPr id="35" name="Text 655"/>
          <p:cNvSpPr txBox="1"/>
          <p:nvPr/>
        </p:nvSpPr>
        <p:spPr>
          <a:xfrm>
            <a:off x="818388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Privacy / safety</a:t>
            </a:r>
            <a:endParaRPr lang="en-US" sz="1200" dirty="0"/>
          </a:p>
        </p:txBody>
      </p:sp>
      <p:sp>
        <p:nvSpPr>
          <p:cNvPr id="36" name="Shape 656"/>
          <p:cNvSpPr/>
          <p:nvPr/>
        </p:nvSpPr>
        <p:spPr>
          <a:xfrm>
            <a:off x="9738360" y="388620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Text 657"/>
          <p:cNvSpPr txBox="1"/>
          <p:nvPr/>
        </p:nvSpPr>
        <p:spPr>
          <a:xfrm>
            <a:off x="973836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10</a:t>
            </a:r>
            <a:endParaRPr lang="en-US" sz="1000" dirty="0"/>
          </a:p>
        </p:txBody>
      </p:sp>
      <p:sp>
        <p:nvSpPr>
          <p:cNvPr id="38" name="Text 658"/>
          <p:cNvSpPr txBox="1"/>
          <p:nvPr/>
        </p:nvSpPr>
        <p:spPr>
          <a:xfrm>
            <a:off x="1010412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Admin</a:t>
            </a:r>
            <a:endParaRPr lang="en-US" sz="12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Advantages</a:t>
            </a:r>
            <a:endParaRPr lang="en-US" sz="3200" dirty="0"/>
          </a:p>
        </p:txBody>
      </p:sp>
      <p:sp>
        <p:nvSpPr>
          <p:cNvPr id="3" name="Shape 663"/>
          <p:cNvSpPr/>
          <p:nvPr/>
        </p:nvSpPr>
        <p:spPr>
          <a:xfrm>
            <a:off x="548640" y="132588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4" name="Shape 664"/>
          <p:cNvSpPr/>
          <p:nvPr/>
        </p:nvSpPr>
        <p:spPr>
          <a:xfrm>
            <a:off x="777240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FaLayerGroup 665" descr="LayerGrou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1703070"/>
            <a:ext cx="297180" cy="297180"/>
          </a:xfrm>
          <a:prstGeom prst="rect">
            <a:avLst/>
          </a:prstGeom>
        </p:spPr>
      </p:pic>
      <p:sp>
        <p:nvSpPr>
          <p:cNvPr id="6" name="Text 666"/>
          <p:cNvSpPr txBox="1"/>
          <p:nvPr/>
        </p:nvSpPr>
        <p:spPr>
          <a:xfrm>
            <a:off x="1600200" y="132588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Integrated platform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Social features and AI assistance in one application.</a:t>
            </a:r>
            <a:endParaRPr lang="en-US" sz="1600" dirty="0"/>
          </a:p>
        </p:txBody>
      </p:sp>
      <p:sp>
        <p:nvSpPr>
          <p:cNvPr id="7" name="Shape 667"/>
          <p:cNvSpPr/>
          <p:nvPr/>
        </p:nvSpPr>
        <p:spPr>
          <a:xfrm>
            <a:off x="6126480" y="132588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8" name="Shape 668"/>
          <p:cNvSpPr/>
          <p:nvPr/>
        </p:nvSpPr>
        <p:spPr>
          <a:xfrm>
            <a:off x="6355080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 FaTags 669" descr="Tag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670" y="1703070"/>
            <a:ext cx="297180" cy="297180"/>
          </a:xfrm>
          <a:prstGeom prst="rect">
            <a:avLst/>
          </a:prstGeom>
        </p:spPr>
      </p:pic>
      <p:sp>
        <p:nvSpPr>
          <p:cNvPr id="10" name="Text 670"/>
          <p:cNvSpPr txBox="1"/>
          <p:nvPr/>
        </p:nvSpPr>
        <p:spPr>
          <a:xfrm>
            <a:off x="7178040" y="132588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Less manual effort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AI suggests captions and hashtags for posts.</a:t>
            </a:r>
            <a:endParaRPr lang="en-US" sz="1600" dirty="0"/>
          </a:p>
        </p:txBody>
      </p:sp>
      <p:sp>
        <p:nvSpPr>
          <p:cNvPr id="11" name="Shape 671"/>
          <p:cNvSpPr/>
          <p:nvPr/>
        </p:nvSpPr>
        <p:spPr>
          <a:xfrm>
            <a:off x="548640" y="251460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2" name="Shape 672"/>
          <p:cNvSpPr/>
          <p:nvPr/>
        </p:nvSpPr>
        <p:spPr>
          <a:xfrm>
            <a:off x="777240" y="2743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 FaEye 673" descr="Ey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2891790"/>
            <a:ext cx="297180" cy="297180"/>
          </a:xfrm>
          <a:prstGeom prst="rect">
            <a:avLst/>
          </a:prstGeom>
        </p:spPr>
      </p:pic>
      <p:sp>
        <p:nvSpPr>
          <p:cNvPr id="14" name="Text 674"/>
          <p:cNvSpPr txBox="1"/>
          <p:nvPr/>
        </p:nvSpPr>
        <p:spPr>
          <a:xfrm>
            <a:off x="1600200" y="25146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Smart tagging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Image recognition identifies objects and scenes.</a:t>
            </a:r>
            <a:endParaRPr lang="en-US" sz="1600" dirty="0"/>
          </a:p>
        </p:txBody>
      </p:sp>
      <p:sp>
        <p:nvSpPr>
          <p:cNvPr id="15" name="Shape 675"/>
          <p:cNvSpPr/>
          <p:nvPr/>
        </p:nvSpPr>
        <p:spPr>
          <a:xfrm>
            <a:off x="6126480" y="251460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6" name="Shape 676"/>
          <p:cNvSpPr/>
          <p:nvPr/>
        </p:nvSpPr>
        <p:spPr>
          <a:xfrm>
            <a:off x="6355080" y="2743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 FaUserLock 677" descr="UserLoc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3670" y="2891790"/>
            <a:ext cx="297180" cy="297180"/>
          </a:xfrm>
          <a:prstGeom prst="rect">
            <a:avLst/>
          </a:prstGeom>
        </p:spPr>
      </p:pic>
      <p:sp>
        <p:nvSpPr>
          <p:cNvPr id="18" name="Text 678"/>
          <p:cNvSpPr txBox="1"/>
          <p:nvPr/>
        </p:nvSpPr>
        <p:spPr>
          <a:xfrm>
            <a:off x="7178040" y="25146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Privacy controls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Private accounts, block, mute and restrict options.</a:t>
            </a:r>
            <a:endParaRPr lang="en-US" sz="1600" dirty="0"/>
          </a:p>
        </p:txBody>
      </p:sp>
      <p:sp>
        <p:nvSpPr>
          <p:cNvPr id="19" name="Shape 679"/>
          <p:cNvSpPr/>
          <p:nvPr/>
        </p:nvSpPr>
        <p:spPr>
          <a:xfrm>
            <a:off x="548640" y="370332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20" name="Shape 680"/>
          <p:cNvSpPr/>
          <p:nvPr/>
        </p:nvSpPr>
        <p:spPr>
          <a:xfrm>
            <a:off x="777240" y="3931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 FaShieldAlt 681" descr="ShieldAl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30" y="4080510"/>
            <a:ext cx="297180" cy="297180"/>
          </a:xfrm>
          <a:prstGeom prst="rect">
            <a:avLst/>
          </a:prstGeom>
        </p:spPr>
      </p:pic>
      <p:sp>
        <p:nvSpPr>
          <p:cNvPr id="22" name="Text 682"/>
          <p:cNvSpPr txBox="1"/>
          <p:nvPr/>
        </p:nvSpPr>
        <p:spPr>
          <a:xfrm>
            <a:off x="1600200" y="370332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Safer interaction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Toxicity moderation, with admin review of flagged items.</a:t>
            </a:r>
            <a:endParaRPr lang="en-US" sz="1600" dirty="0"/>
          </a:p>
        </p:txBody>
      </p:sp>
      <p:sp>
        <p:nvSpPr>
          <p:cNvPr id="23" name="Shape 683"/>
          <p:cNvSpPr/>
          <p:nvPr/>
        </p:nvSpPr>
        <p:spPr>
          <a:xfrm>
            <a:off x="6126480" y="370332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24" name="Shape 684"/>
          <p:cNvSpPr/>
          <p:nvPr/>
        </p:nvSpPr>
        <p:spPr>
          <a:xfrm>
            <a:off x="6355080" y="3931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 FaBook 685" descr="Book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3670" y="4080510"/>
            <a:ext cx="297180" cy="297180"/>
          </a:xfrm>
          <a:prstGeom prst="rect">
            <a:avLst/>
          </a:prstGeom>
        </p:spPr>
      </p:pic>
      <p:sp>
        <p:nvSpPr>
          <p:cNvPr id="26" name="Text 686"/>
          <p:cNvSpPr txBox="1"/>
          <p:nvPr/>
        </p:nvSpPr>
        <p:spPr>
          <a:xfrm>
            <a:off x="7178040" y="370332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Flexible stories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Stories can last beyond the fixed 24-hour window.</a:t>
            </a:r>
            <a:endParaRPr lang="en-US" sz="1600" dirty="0"/>
          </a:p>
        </p:txBody>
      </p:sp>
      <p:sp>
        <p:nvSpPr>
          <p:cNvPr id="27" name="Shape 687"/>
          <p:cNvSpPr/>
          <p:nvPr/>
        </p:nvSpPr>
        <p:spPr>
          <a:xfrm>
            <a:off x="548640" y="489204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28" name="Shape 688"/>
          <p:cNvSpPr/>
          <p:nvPr/>
        </p:nvSpPr>
        <p:spPr>
          <a:xfrm>
            <a:off x="777240" y="5120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con FaPuzzlePiece 689" descr="PuzzlePiece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5830" y="5269230"/>
            <a:ext cx="297180" cy="297180"/>
          </a:xfrm>
          <a:prstGeom prst="rect">
            <a:avLst/>
          </a:prstGeom>
        </p:spPr>
      </p:pic>
      <p:sp>
        <p:nvSpPr>
          <p:cNvPr id="30" name="Text 690"/>
          <p:cNvSpPr txBox="1"/>
          <p:nvPr/>
        </p:nvSpPr>
        <p:spPr>
          <a:xfrm>
            <a:off x="1600200" y="489204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Modular design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Nine functional modules that are easy to extend.</a:t>
            </a:r>
            <a:endParaRPr lang="en-US" sz="1600" dirty="0"/>
          </a:p>
        </p:txBody>
      </p:sp>
      <p:sp>
        <p:nvSpPr>
          <p:cNvPr id="31" name="Shape 691"/>
          <p:cNvSpPr/>
          <p:nvPr/>
        </p:nvSpPr>
        <p:spPr>
          <a:xfrm>
            <a:off x="6126480" y="489204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32" name="Shape 692"/>
          <p:cNvSpPr/>
          <p:nvPr/>
        </p:nvSpPr>
        <p:spPr>
          <a:xfrm>
            <a:off x="6355080" y="5120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con FaGithub 693" descr="Github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3670" y="5269230"/>
            <a:ext cx="297180" cy="297180"/>
          </a:xfrm>
          <a:prstGeom prst="rect">
            <a:avLst/>
          </a:prstGeom>
        </p:spPr>
      </p:pic>
      <p:sp>
        <p:nvSpPr>
          <p:cNvPr id="34" name="Text 694"/>
          <p:cNvSpPr txBox="1"/>
          <p:nvPr/>
        </p:nvSpPr>
        <p:spPr>
          <a:xfrm>
            <a:off x="7178040" y="489204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Low cost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Free, open-source tools with no licensing cost.</a:t>
            </a:r>
            <a:endParaRPr lang="en-US" sz="16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Limitations</a:t>
            </a:r>
            <a:endParaRPr lang="en-US" sz="3200" dirty="0"/>
          </a:p>
        </p:txBody>
      </p:sp>
      <p:sp>
        <p:nvSpPr>
          <p:cNvPr id="3" name="Shape 695"/>
          <p:cNvSpPr/>
          <p:nvPr/>
        </p:nvSpPr>
        <p:spPr>
          <a:xfrm>
            <a:off x="7498080" y="502920"/>
            <a:ext cx="4142232" cy="457200"/>
          </a:xfrm>
          <a:prstGeom prst="roundRect">
            <a:avLst>
              <a:gd name="adj" fmla="val 50000"/>
            </a:avLst>
          </a:prstGeom>
          <a:solidFill>
            <a:schemeClr val="accent4">
              <a:alpha val="12000"/>
            </a:schemeClr>
          </a:solidFill>
          <a:ln w="9525">
            <a:solidFill>
              <a:srgbClr val="F2D4A6"/>
            </a:solidFill>
            <a:prstDash val="solid"/>
          </a:ln>
        </p:spPr>
      </p:sp>
      <p:sp>
        <p:nvSpPr>
          <p:cNvPr id="4" name="Text 696"/>
          <p:cNvSpPr txBox="1"/>
          <p:nvPr/>
        </p:nvSpPr>
        <p:spPr>
          <a:xfrm>
            <a:off x="7498080" y="502920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Draft – verify against project documentation</a:t>
            </a:r>
            <a:endParaRPr lang="en-US" sz="1200" dirty="0"/>
          </a:p>
        </p:txBody>
      </p:sp>
      <p:sp>
        <p:nvSpPr>
          <p:cNvPr id="5" name="Shape 697"/>
          <p:cNvSpPr/>
          <p:nvPr/>
        </p:nvSpPr>
        <p:spPr>
          <a:xfrm>
            <a:off x="548640" y="1325880"/>
            <a:ext cx="3593592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6" name="Shape 698"/>
          <p:cNvSpPr/>
          <p:nvPr/>
        </p:nvSpPr>
        <p:spPr>
          <a:xfrm>
            <a:off x="777240" y="1554480"/>
            <a:ext cx="594360" cy="59436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7" name="Icon FaDatabase 699" descr="Databas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1703070"/>
            <a:ext cx="297180" cy="297180"/>
          </a:xfrm>
          <a:prstGeom prst="rect">
            <a:avLst/>
          </a:prstGeom>
        </p:spPr>
      </p:pic>
      <p:sp>
        <p:nvSpPr>
          <p:cNvPr id="8" name="Text 700"/>
          <p:cNvSpPr txBox="1"/>
          <p:nvPr/>
        </p:nvSpPr>
        <p:spPr>
          <a:xfrm>
            <a:off x="777240" y="22860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Local SQLite database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Suited to a local academic setup rather than large-scale use.</a:t>
            </a:r>
            <a:endParaRPr lang="en-US" sz="1600" dirty="0"/>
          </a:p>
        </p:txBody>
      </p:sp>
      <p:sp>
        <p:nvSpPr>
          <p:cNvPr id="9" name="Shape 701"/>
          <p:cNvSpPr/>
          <p:nvPr/>
        </p:nvSpPr>
        <p:spPr>
          <a:xfrm>
            <a:off x="4297680" y="1325880"/>
            <a:ext cx="3593592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0" name="Shape 702"/>
          <p:cNvSpPr/>
          <p:nvPr/>
        </p:nvSpPr>
        <p:spPr>
          <a:xfrm>
            <a:off x="4526280" y="1554480"/>
            <a:ext cx="594360" cy="59436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11" name="Icon FaMicrochip 703" descr="Microchip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870" y="1703070"/>
            <a:ext cx="297180" cy="297180"/>
          </a:xfrm>
          <a:prstGeom prst="rect">
            <a:avLst/>
          </a:prstGeom>
        </p:spPr>
      </p:pic>
      <p:sp>
        <p:nvSpPr>
          <p:cNvPr id="12" name="Text 704"/>
          <p:cNvSpPr txBox="1"/>
          <p:nvPr/>
        </p:nvSpPr>
        <p:spPr>
          <a:xfrm>
            <a:off x="4526280" y="22860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AI model resources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PyTorch-based models need adequate computing resources.</a:t>
            </a:r>
            <a:endParaRPr lang="en-US" sz="1600" dirty="0"/>
          </a:p>
        </p:txBody>
      </p:sp>
      <p:sp>
        <p:nvSpPr>
          <p:cNvPr id="13" name="Shape 705"/>
          <p:cNvSpPr/>
          <p:nvPr/>
        </p:nvSpPr>
        <p:spPr>
          <a:xfrm>
            <a:off x="8046720" y="1325880"/>
            <a:ext cx="3593592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4" name="Shape 706"/>
          <p:cNvSpPr/>
          <p:nvPr/>
        </p:nvSpPr>
        <p:spPr>
          <a:xfrm>
            <a:off x="8275320" y="1554480"/>
            <a:ext cx="594360" cy="59436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15" name="Icon FaBrain 707" descr="Brai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3910" y="1703070"/>
            <a:ext cx="297180" cy="297180"/>
          </a:xfrm>
          <a:prstGeom prst="rect">
            <a:avLst/>
          </a:prstGeom>
        </p:spPr>
      </p:pic>
      <p:sp>
        <p:nvSpPr>
          <p:cNvPr id="16" name="Text 708"/>
          <p:cNvSpPr txBox="1"/>
          <p:nvPr/>
        </p:nvSpPr>
        <p:spPr>
          <a:xfrm>
            <a:off x="8275320" y="22860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Suggestions need review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AI captions and moderation results should be checked by users and admins.</a:t>
            </a:r>
            <a:endParaRPr lang="en-US" sz="1600" dirty="0"/>
          </a:p>
        </p:txBody>
      </p:sp>
      <p:sp>
        <p:nvSpPr>
          <p:cNvPr id="17" name="Shape 709"/>
          <p:cNvSpPr/>
          <p:nvPr/>
        </p:nvSpPr>
        <p:spPr>
          <a:xfrm>
            <a:off x="548640" y="3657600"/>
            <a:ext cx="3593592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18" name="Shape 710"/>
          <p:cNvSpPr/>
          <p:nvPr/>
        </p:nvSpPr>
        <p:spPr>
          <a:xfrm>
            <a:off x="777240" y="3886200"/>
            <a:ext cx="594360" cy="59436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19" name="Icon FaComments 711" descr="Comment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30" y="4034790"/>
            <a:ext cx="297180" cy="297180"/>
          </a:xfrm>
          <a:prstGeom prst="rect">
            <a:avLst/>
          </a:prstGeom>
        </p:spPr>
      </p:pic>
      <p:sp>
        <p:nvSpPr>
          <p:cNvPr id="20" name="Text 712"/>
          <p:cNvSpPr txBox="1"/>
          <p:nvPr/>
        </p:nvSpPr>
        <p:spPr>
          <a:xfrm>
            <a:off x="777240" y="46177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Real-time-style messaging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Direct messaging is described as real-time-style, not full real-time delivery.</a:t>
            </a:r>
            <a:endParaRPr lang="en-US" sz="1600" dirty="0"/>
          </a:p>
        </p:txBody>
      </p:sp>
      <p:sp>
        <p:nvSpPr>
          <p:cNvPr id="21" name="Shape 713"/>
          <p:cNvSpPr/>
          <p:nvPr/>
        </p:nvSpPr>
        <p:spPr>
          <a:xfrm>
            <a:off x="4297680" y="3657600"/>
            <a:ext cx="3593592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22" name="Shape 714"/>
          <p:cNvSpPr/>
          <p:nvPr/>
        </p:nvSpPr>
        <p:spPr>
          <a:xfrm>
            <a:off x="4526280" y="3886200"/>
            <a:ext cx="594360" cy="59436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23" name="Icon FaChartBar 715" descr="ChartBar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4870" y="4034790"/>
            <a:ext cx="297180" cy="297180"/>
          </a:xfrm>
          <a:prstGeom prst="rect">
            <a:avLst/>
          </a:prstGeom>
        </p:spPr>
      </p:pic>
      <p:sp>
        <p:nvSpPr>
          <p:cNvPr id="24" name="Text 716"/>
          <p:cNvSpPr txBox="1"/>
          <p:nvPr/>
        </p:nvSpPr>
        <p:spPr>
          <a:xfrm>
            <a:off x="4526280" y="46177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No quantitative AI evaluation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AI accuracy and response time are not specifically measured.</a:t>
            </a:r>
            <a:endParaRPr lang="en-US" sz="1600" dirty="0"/>
          </a:p>
        </p:txBody>
      </p:sp>
      <p:sp>
        <p:nvSpPr>
          <p:cNvPr id="25" name="Shape 717"/>
          <p:cNvSpPr/>
          <p:nvPr/>
        </p:nvSpPr>
        <p:spPr>
          <a:xfrm>
            <a:off x="8046720" y="3657600"/>
            <a:ext cx="3593592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26" name="Shape 718"/>
          <p:cNvSpPr/>
          <p:nvPr/>
        </p:nvSpPr>
        <p:spPr>
          <a:xfrm>
            <a:off x="8275320" y="3886200"/>
            <a:ext cx="594360" cy="59436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27" name="Icon FaCloud 719" descr="Cloud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910" y="4034790"/>
            <a:ext cx="297180" cy="297180"/>
          </a:xfrm>
          <a:prstGeom prst="rect">
            <a:avLst/>
          </a:prstGeom>
        </p:spPr>
      </p:pic>
      <p:sp>
        <p:nvSpPr>
          <p:cNvPr id="28" name="Text 720"/>
          <p:cNvSpPr txBox="1"/>
          <p:nvPr/>
        </p:nvSpPr>
        <p:spPr>
          <a:xfrm>
            <a:off x="8275320" y="46177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Hosting not yet set up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Real-world deployment would need hosting, with minimal cost expected.</a:t>
            </a:r>
            <a:endParaRPr lang="en-US" sz="1600" dirty="0"/>
          </a:p>
        </p:txBody>
      </p:sp>
      <p:sp>
        <p:nvSpPr>
          <p:cNvPr id="29" name="Text 721"/>
          <p:cNvSpPr txBox="1"/>
          <p:nvPr/>
        </p:nvSpPr>
        <p:spPr>
          <a:xfrm>
            <a:off x="548640" y="6035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722"/>
          <p:cNvSpPr txBox="1"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Nila Social Media adds an AI layer to a complete social media web application.</a:t>
            </a:r>
            <a:endParaRPr lang="en-US" sz="2600" dirty="0"/>
          </a:p>
        </p:txBody>
      </p:sp>
      <p:sp>
        <p:nvSpPr>
          <p:cNvPr id="4" name="Shape 723"/>
          <p:cNvSpPr/>
          <p:nvPr/>
        </p:nvSpPr>
        <p:spPr>
          <a:xfrm>
            <a:off x="548640" y="2560320"/>
            <a:ext cx="5440680" cy="1645920"/>
          </a:xfrm>
          <a:prstGeom prst="roundRect">
            <a:avLst>
              <a:gd name="adj" fmla="val 6667"/>
            </a:avLst>
          </a:prstGeom>
          <a:solidFill>
            <a:schemeClr val="bg1">
              <a:alpha val="8000"/>
            </a:scheme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Shape 724"/>
          <p:cNvSpPr/>
          <p:nvPr/>
        </p:nvSpPr>
        <p:spPr>
          <a:xfrm>
            <a:off x="777240" y="2788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 FaLayerGroup 725" descr="LayerGrou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937510"/>
            <a:ext cx="297180" cy="297180"/>
          </a:xfrm>
          <a:prstGeom prst="rect">
            <a:avLst/>
          </a:prstGeom>
        </p:spPr>
      </p:pic>
      <p:sp>
        <p:nvSpPr>
          <p:cNvPr id="7" name="Text 726"/>
          <p:cNvSpPr txBox="1"/>
          <p:nvPr/>
        </p:nvSpPr>
        <p:spPr>
          <a:xfrm>
            <a:off x="1600200" y="256032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What was developed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A Flask and SQLite web application with nine functional modules.</a:t>
            </a:r>
            <a:endParaRPr lang="en-US" sz="1600" dirty="0"/>
          </a:p>
        </p:txBody>
      </p:sp>
      <p:sp>
        <p:nvSpPr>
          <p:cNvPr id="8" name="Shape 727"/>
          <p:cNvSpPr/>
          <p:nvPr/>
        </p:nvSpPr>
        <p:spPr>
          <a:xfrm>
            <a:off x="6126480" y="2560320"/>
            <a:ext cx="5440680" cy="1645920"/>
          </a:xfrm>
          <a:prstGeom prst="roundRect">
            <a:avLst>
              <a:gd name="adj" fmla="val 6667"/>
            </a:avLst>
          </a:prstGeom>
          <a:solidFill>
            <a:schemeClr val="bg1">
              <a:alpha val="8000"/>
            </a:scheme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Shape 728"/>
          <p:cNvSpPr/>
          <p:nvPr/>
        </p:nvSpPr>
        <p:spPr>
          <a:xfrm>
            <a:off x="6355080" y="2788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FaUsers 729" descr="User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670" y="2937510"/>
            <a:ext cx="297180" cy="297180"/>
          </a:xfrm>
          <a:prstGeom prst="rect">
            <a:avLst/>
          </a:prstGeom>
        </p:spPr>
      </p:pic>
      <p:sp>
        <p:nvSpPr>
          <p:cNvPr id="11" name="Text 730"/>
          <p:cNvSpPr txBox="1"/>
          <p:nvPr/>
        </p:nvSpPr>
        <p:spPr>
          <a:xfrm>
            <a:off x="7178040" y="256032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Main functionality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Posts, stories, reels, follow system, messaging, search and administration.</a:t>
            </a:r>
            <a:endParaRPr lang="en-US" sz="1600" dirty="0"/>
          </a:p>
        </p:txBody>
      </p:sp>
      <p:sp>
        <p:nvSpPr>
          <p:cNvPr id="12" name="Shape 731"/>
          <p:cNvSpPr/>
          <p:nvPr/>
        </p:nvSpPr>
        <p:spPr>
          <a:xfrm>
            <a:off x="548640" y="4343400"/>
            <a:ext cx="5440680" cy="1645920"/>
          </a:xfrm>
          <a:prstGeom prst="roundRect">
            <a:avLst>
              <a:gd name="adj" fmla="val 6667"/>
            </a:avLst>
          </a:prstGeom>
          <a:solidFill>
            <a:schemeClr val="bg1">
              <a:alpha val="8000"/>
            </a:scheme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732"/>
          <p:cNvSpPr/>
          <p:nvPr/>
        </p:nvSpPr>
        <p:spPr>
          <a:xfrm>
            <a:off x="777240" y="45720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 FaMagic 733" descr="Magic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4720590"/>
            <a:ext cx="297180" cy="297180"/>
          </a:xfrm>
          <a:prstGeom prst="rect">
            <a:avLst/>
          </a:prstGeom>
        </p:spPr>
      </p:pic>
      <p:sp>
        <p:nvSpPr>
          <p:cNvPr id="15" name="Text 734"/>
          <p:cNvSpPr txBox="1"/>
          <p:nvPr/>
        </p:nvSpPr>
        <p:spPr>
          <a:xfrm>
            <a:off x="1600200" y="434340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Technical approach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Local AI Studio using PyTorch, OpenCV and BLIP captioning.</a:t>
            </a:r>
            <a:endParaRPr lang="en-US" sz="1600" dirty="0"/>
          </a:p>
        </p:txBody>
      </p:sp>
      <p:sp>
        <p:nvSpPr>
          <p:cNvPr id="16" name="Shape 735"/>
          <p:cNvSpPr/>
          <p:nvPr/>
        </p:nvSpPr>
        <p:spPr>
          <a:xfrm>
            <a:off x="6126480" y="4343400"/>
            <a:ext cx="5440680" cy="1645920"/>
          </a:xfrm>
          <a:prstGeom prst="roundRect">
            <a:avLst>
              <a:gd name="adj" fmla="val 6667"/>
            </a:avLst>
          </a:prstGeom>
          <a:solidFill>
            <a:schemeClr val="bg1">
              <a:alpha val="8000"/>
            </a:scheme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736"/>
          <p:cNvSpPr/>
          <p:nvPr/>
        </p:nvSpPr>
        <p:spPr>
          <a:xfrm>
            <a:off x="6355080" y="45720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 FaBullseye 737" descr="Bullsey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3670" y="4720590"/>
            <a:ext cx="297180" cy="297180"/>
          </a:xfrm>
          <a:prstGeom prst="rect">
            <a:avLst/>
          </a:prstGeom>
        </p:spPr>
      </p:pic>
      <p:sp>
        <p:nvSpPr>
          <p:cNvPr id="19" name="Text 738"/>
          <p:cNvSpPr txBox="1"/>
          <p:nvPr/>
        </p:nvSpPr>
        <p:spPr>
          <a:xfrm>
            <a:off x="7178040" y="434340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Outcome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Addresses the missing intelligence layer in basic social media apps.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7D2E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Future Scope</a:t>
            </a:r>
            <a:endParaRPr lang="en-US" sz="3200" dirty="0"/>
          </a:p>
        </p:txBody>
      </p:sp>
      <p:sp>
        <p:nvSpPr>
          <p:cNvPr id="3" name="Shape 739"/>
          <p:cNvSpPr/>
          <p:nvPr/>
        </p:nvSpPr>
        <p:spPr>
          <a:xfrm>
            <a:off x="6858000" y="502920"/>
            <a:ext cx="4782312" cy="457200"/>
          </a:xfrm>
          <a:prstGeom prst="roundRect">
            <a:avLst>
              <a:gd name="adj" fmla="val 50000"/>
            </a:avLst>
          </a:prstGeom>
          <a:solidFill>
            <a:schemeClr val="accent4">
              <a:alpha val="12000"/>
            </a:schemeClr>
          </a:solidFill>
          <a:ln w="9525">
            <a:solidFill>
              <a:srgbClr val="F2D4A6"/>
            </a:solidFill>
            <a:prstDash val="solid"/>
          </a:ln>
        </p:spPr>
      </p:sp>
      <p:sp>
        <p:nvSpPr>
          <p:cNvPr id="4" name="Text 740"/>
          <p:cNvSpPr txBox="1"/>
          <p:nvPr/>
        </p:nvSpPr>
        <p:spPr>
          <a:xfrm>
            <a:off x="6858000" y="502920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Draft – future possibilities, not current features</a:t>
            </a:r>
            <a:endParaRPr lang="en-US" sz="1200" dirty="0"/>
          </a:p>
        </p:txBody>
      </p:sp>
      <p:sp>
        <p:nvSpPr>
          <p:cNvPr id="5" name="Shape 741"/>
          <p:cNvSpPr/>
          <p:nvPr/>
        </p:nvSpPr>
        <p:spPr>
          <a:xfrm>
            <a:off x="548640" y="1371600"/>
            <a:ext cx="3593592" cy="2286000"/>
          </a:xfrm>
          <a:prstGeom prst="roundRect">
            <a:avLst>
              <a:gd name="adj" fmla="val 4800"/>
            </a:avLst>
          </a:prstGeom>
          <a:solidFill>
            <a:schemeClr val="accent1">
              <a:alpha val="6000"/>
            </a:schemeClr>
          </a:solidFill>
          <a:ln w="9525">
            <a:solidFill>
              <a:srgbClr val="C9CCF4"/>
            </a:solidFill>
            <a:prstDash val="solid"/>
          </a:ln>
        </p:spPr>
      </p:sp>
      <p:sp>
        <p:nvSpPr>
          <p:cNvPr id="6" name="Shape 742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7" name="Icon FaCloud 743" descr="Cloud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1748790"/>
            <a:ext cx="297180" cy="297180"/>
          </a:xfrm>
          <a:prstGeom prst="rect">
            <a:avLst/>
          </a:prstGeom>
        </p:spPr>
      </p:pic>
      <p:sp>
        <p:nvSpPr>
          <p:cNvPr id="8" name="Text 744"/>
          <p:cNvSpPr txBox="1"/>
          <p:nvPr/>
        </p:nvSpPr>
        <p:spPr>
          <a:xfrm>
            <a:off x="777240" y="23774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Real-world deployment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Host the application online for wider use.</a:t>
            </a:r>
            <a:endParaRPr lang="en-US" sz="1600" dirty="0"/>
          </a:p>
        </p:txBody>
      </p:sp>
      <p:sp>
        <p:nvSpPr>
          <p:cNvPr id="9" name="Shape 745"/>
          <p:cNvSpPr/>
          <p:nvPr/>
        </p:nvSpPr>
        <p:spPr>
          <a:xfrm>
            <a:off x="4297680" y="1371600"/>
            <a:ext cx="3593592" cy="2286000"/>
          </a:xfrm>
          <a:prstGeom prst="roundRect">
            <a:avLst>
              <a:gd name="adj" fmla="val 4800"/>
            </a:avLst>
          </a:prstGeom>
          <a:solidFill>
            <a:schemeClr val="accent1">
              <a:alpha val="6000"/>
            </a:schemeClr>
          </a:solidFill>
          <a:ln w="9525">
            <a:solidFill>
              <a:srgbClr val="C9CCF4"/>
            </a:solidFill>
            <a:prstDash val="solid"/>
          </a:ln>
        </p:spPr>
      </p:sp>
      <p:sp>
        <p:nvSpPr>
          <p:cNvPr id="10" name="Shape 746"/>
          <p:cNvSpPr/>
          <p:nvPr/>
        </p:nvSpPr>
        <p:spPr>
          <a:xfrm>
            <a:off x="4526280" y="1600200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1" name="Icon FaDatabase 747" descr="Databas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870" y="1748790"/>
            <a:ext cx="297180" cy="297180"/>
          </a:xfrm>
          <a:prstGeom prst="rect">
            <a:avLst/>
          </a:prstGeom>
        </p:spPr>
      </p:pic>
      <p:sp>
        <p:nvSpPr>
          <p:cNvPr id="12" name="Text 748"/>
          <p:cNvSpPr txBox="1"/>
          <p:nvPr/>
        </p:nvSpPr>
        <p:spPr>
          <a:xfrm>
            <a:off x="4526280" y="23774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Server database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Move from SQLite to a database such as MySQL.</a:t>
            </a:r>
            <a:endParaRPr lang="en-US" sz="1600" dirty="0"/>
          </a:p>
        </p:txBody>
      </p:sp>
      <p:sp>
        <p:nvSpPr>
          <p:cNvPr id="13" name="Shape 749"/>
          <p:cNvSpPr/>
          <p:nvPr/>
        </p:nvSpPr>
        <p:spPr>
          <a:xfrm>
            <a:off x="8046720" y="1371600"/>
            <a:ext cx="3593592" cy="2286000"/>
          </a:xfrm>
          <a:prstGeom prst="roundRect">
            <a:avLst>
              <a:gd name="adj" fmla="val 4800"/>
            </a:avLst>
          </a:prstGeom>
          <a:solidFill>
            <a:schemeClr val="accent1">
              <a:alpha val="6000"/>
            </a:schemeClr>
          </a:solidFill>
          <a:ln w="9525">
            <a:solidFill>
              <a:srgbClr val="C9CCF4"/>
            </a:solidFill>
            <a:prstDash val="solid"/>
          </a:ln>
        </p:spPr>
      </p:sp>
      <p:sp>
        <p:nvSpPr>
          <p:cNvPr id="14" name="Shape 750"/>
          <p:cNvSpPr/>
          <p:nvPr/>
        </p:nvSpPr>
        <p:spPr>
          <a:xfrm>
            <a:off x="8275320" y="1600200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5" name="Icon FaBrain 751" descr="Brai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3910" y="1748790"/>
            <a:ext cx="297180" cy="297180"/>
          </a:xfrm>
          <a:prstGeom prst="rect">
            <a:avLst/>
          </a:prstGeom>
        </p:spPr>
      </p:pic>
      <p:sp>
        <p:nvSpPr>
          <p:cNvPr id="16" name="Text 752"/>
          <p:cNvSpPr txBox="1"/>
          <p:nvPr/>
        </p:nvSpPr>
        <p:spPr>
          <a:xfrm>
            <a:off x="8275320" y="23774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Stronger AI models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Improve caption, tagging and moderation quality.</a:t>
            </a:r>
            <a:endParaRPr lang="en-US" sz="1600" dirty="0"/>
          </a:p>
        </p:txBody>
      </p:sp>
      <p:sp>
        <p:nvSpPr>
          <p:cNvPr id="17" name="Shape 753"/>
          <p:cNvSpPr/>
          <p:nvPr/>
        </p:nvSpPr>
        <p:spPr>
          <a:xfrm>
            <a:off x="548640" y="3794760"/>
            <a:ext cx="3593592" cy="2286000"/>
          </a:xfrm>
          <a:prstGeom prst="roundRect">
            <a:avLst>
              <a:gd name="adj" fmla="val 4800"/>
            </a:avLst>
          </a:prstGeom>
          <a:solidFill>
            <a:schemeClr val="accent1">
              <a:alpha val="6000"/>
            </a:schemeClr>
          </a:solidFill>
          <a:ln w="9525">
            <a:solidFill>
              <a:srgbClr val="C9CCF4"/>
            </a:solidFill>
            <a:prstDash val="solid"/>
          </a:ln>
        </p:spPr>
      </p:sp>
      <p:sp>
        <p:nvSpPr>
          <p:cNvPr id="18" name="Shape 754"/>
          <p:cNvSpPr/>
          <p:nvPr/>
        </p:nvSpPr>
        <p:spPr>
          <a:xfrm>
            <a:off x="777240" y="4023360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9" name="Icon FaChartBar 755" descr="ChartBar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30" y="4171950"/>
            <a:ext cx="297180" cy="297180"/>
          </a:xfrm>
          <a:prstGeom prst="rect">
            <a:avLst/>
          </a:prstGeom>
        </p:spPr>
      </p:pic>
      <p:sp>
        <p:nvSpPr>
          <p:cNvPr id="20" name="Text 756"/>
          <p:cNvSpPr txBox="1"/>
          <p:nvPr/>
        </p:nvSpPr>
        <p:spPr>
          <a:xfrm>
            <a:off x="777240" y="48006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AI evaluation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Measure accuracy using standard metrics.</a:t>
            </a:r>
            <a:endParaRPr lang="en-US" sz="1600" dirty="0"/>
          </a:p>
        </p:txBody>
      </p:sp>
      <p:sp>
        <p:nvSpPr>
          <p:cNvPr id="21" name="Shape 757"/>
          <p:cNvSpPr/>
          <p:nvPr/>
        </p:nvSpPr>
        <p:spPr>
          <a:xfrm>
            <a:off x="4297680" y="3794760"/>
            <a:ext cx="3593592" cy="2286000"/>
          </a:xfrm>
          <a:prstGeom prst="roundRect">
            <a:avLst>
              <a:gd name="adj" fmla="val 4800"/>
            </a:avLst>
          </a:prstGeom>
          <a:solidFill>
            <a:schemeClr val="accent1">
              <a:alpha val="6000"/>
            </a:schemeClr>
          </a:solidFill>
          <a:ln w="9525">
            <a:solidFill>
              <a:srgbClr val="C9CCF4"/>
            </a:solidFill>
            <a:prstDash val="solid"/>
          </a:ln>
        </p:spPr>
      </p:sp>
      <p:sp>
        <p:nvSpPr>
          <p:cNvPr id="22" name="Shape 758"/>
          <p:cNvSpPr/>
          <p:nvPr/>
        </p:nvSpPr>
        <p:spPr>
          <a:xfrm>
            <a:off x="4526280" y="4023360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3" name="Icon FaCompass 759" descr="Compas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4870" y="4171950"/>
            <a:ext cx="297180" cy="297180"/>
          </a:xfrm>
          <a:prstGeom prst="rect">
            <a:avLst/>
          </a:prstGeom>
        </p:spPr>
      </p:pic>
      <p:sp>
        <p:nvSpPr>
          <p:cNvPr id="24" name="Text 760"/>
          <p:cNvSpPr txBox="1"/>
          <p:nvPr/>
        </p:nvSpPr>
        <p:spPr>
          <a:xfrm>
            <a:off x="4526280" y="48006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Better recommendations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Refine the personalized feed engine.</a:t>
            </a:r>
            <a:endParaRPr lang="en-US" sz="1600" dirty="0"/>
          </a:p>
        </p:txBody>
      </p:sp>
      <p:sp>
        <p:nvSpPr>
          <p:cNvPr id="25" name="Shape 761"/>
          <p:cNvSpPr/>
          <p:nvPr/>
        </p:nvSpPr>
        <p:spPr>
          <a:xfrm>
            <a:off x="8046720" y="3794760"/>
            <a:ext cx="3593592" cy="2286000"/>
          </a:xfrm>
          <a:prstGeom prst="roundRect">
            <a:avLst>
              <a:gd name="adj" fmla="val 4800"/>
            </a:avLst>
          </a:prstGeom>
          <a:solidFill>
            <a:schemeClr val="accent1">
              <a:alpha val="6000"/>
            </a:schemeClr>
          </a:solidFill>
          <a:ln w="9525">
            <a:solidFill>
              <a:srgbClr val="C9CCF4"/>
            </a:solidFill>
            <a:prstDash val="solid"/>
          </a:ln>
        </p:spPr>
      </p:sp>
      <p:sp>
        <p:nvSpPr>
          <p:cNvPr id="26" name="Shape 762"/>
          <p:cNvSpPr/>
          <p:nvPr/>
        </p:nvSpPr>
        <p:spPr>
          <a:xfrm>
            <a:off x="8275320" y="4023360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7" name="Icon FaShieldAlt 763" descr="ShieldAlt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910" y="4171950"/>
            <a:ext cx="297180" cy="297180"/>
          </a:xfrm>
          <a:prstGeom prst="rect">
            <a:avLst/>
          </a:prstGeom>
        </p:spPr>
      </p:pic>
      <p:sp>
        <p:nvSpPr>
          <p:cNvPr id="28" name="Text 764"/>
          <p:cNvSpPr txBox="1"/>
          <p:nvPr/>
        </p:nvSpPr>
        <p:spPr>
          <a:xfrm>
            <a:off x="8275320" y="48006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Detection upgrades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Strengthen spam and fake account detection.</a:t>
            </a:r>
            <a:endParaRPr lang="en-US" sz="1600" dirty="0"/>
          </a:p>
        </p:txBody>
      </p:sp>
      <p:sp>
        <p:nvSpPr>
          <p:cNvPr id="29" name="Text 765"/>
          <p:cNvSpPr txBox="1"/>
          <p:nvPr/>
        </p:nvSpPr>
        <p:spPr>
          <a:xfrm>
            <a:off x="548640" y="6035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The project material has no future-scope section. These points follow from the feasibility study and architecture; confirm before presenting.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References</a:t>
            </a:r>
            <a:endParaRPr lang="en-US" sz="3200" dirty="0"/>
          </a:p>
        </p:txBody>
      </p:sp>
      <p:sp>
        <p:nvSpPr>
          <p:cNvPr id="3" name="Shape 766"/>
          <p:cNvSpPr/>
          <p:nvPr/>
        </p:nvSpPr>
        <p:spPr>
          <a:xfrm>
            <a:off x="548640" y="1280160"/>
            <a:ext cx="5440680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4" name="Text 767"/>
          <p:cNvSpPr txBox="1"/>
          <p:nvPr/>
        </p:nvSpPr>
        <p:spPr>
          <a:xfrm>
            <a:off x="777240" y="1417320"/>
            <a:ext cx="4983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[1] A. Puscasiu et al., “Automated image captioning,” 2020.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[2] H. Sharma et al., “Image captioning: A survey,” 2020.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[3] J. Li et al., “BLIP: Bootstrapping language-image pre-training for unified vision-language understanding and generation,” 2022.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[4] T. Ghandi et al., “Deep learning approaches on image captioning: A review,” 2022.</a:t>
            </a:r>
            <a:endParaRPr lang="en-US" sz="1400" dirty="0"/>
          </a:p>
        </p:txBody>
      </p:sp>
      <p:sp>
        <p:nvSpPr>
          <p:cNvPr id="5" name="Shape 768"/>
          <p:cNvSpPr/>
          <p:nvPr/>
        </p:nvSpPr>
        <p:spPr>
          <a:xfrm>
            <a:off x="6199632" y="1280160"/>
            <a:ext cx="5440680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9525">
            <a:solidFill>
              <a:srgbClr val="DADDF2"/>
            </a:solidFill>
            <a:prstDash val="solid"/>
          </a:ln>
          <a:effectLst>
            <a:outerShdw blurRad="101600" dist="25400" dir="5400000" algn="bl" rotWithShape="0">
              <a:srgbClr val="0B1030">
                <a:alpha val="10000"/>
              </a:srgbClr>
            </a:outerShdw>
          </a:effectLst>
        </p:spPr>
      </p:sp>
      <p:sp>
        <p:nvSpPr>
          <p:cNvPr id="6" name="Text 769"/>
          <p:cNvSpPr txBox="1"/>
          <p:nvPr/>
        </p:nvSpPr>
        <p:spPr>
          <a:xfrm>
            <a:off x="6428232" y="1417320"/>
            <a:ext cx="4983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[5] O. Ondeng et al., “Review of transformer-based image captioning models,” 2023.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[6] F. Daneshfar et al., “Image captioning by diffusion models: A survey,” 2024.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[7] I. Albadarneh et al., “Attention-based transformer models for multilingual image captioning,” 2025.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[8] M. Al-Malla et al., “Next-generation image captioning: A systematic review,” 2026.</a:t>
            </a:r>
            <a:endParaRPr lang="en-US" sz="1400" dirty="0"/>
          </a:p>
        </p:txBody>
      </p:sp>
      <p:sp>
        <p:nvSpPr>
          <p:cNvPr id="7" name="Text 770"/>
          <p:cNvSpPr txBox="1"/>
          <p:nvPr/>
        </p:nvSpPr>
        <p:spPr>
          <a:xfrm>
            <a:off x="548640" y="6035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Journal / conference names, volumes and pages were not available in the project material and should be added before submission.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71"/>
          <p:cNvSpPr txBox="1"/>
          <p:nvPr/>
        </p:nvSpPr>
        <p:spPr>
          <a:xfrm>
            <a:off x="0" y="1371600"/>
            <a:ext cx="12188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kern="0" spc="600" dirty="0">
                <a:solidFill>
                  <a:schemeClr val="bg1"/>
                </a:solidFill>
              </a:rPr>
              <a:t>THANK YOU</a:t>
            </a:r>
            <a:endParaRPr lang="en-US" sz="6600" dirty="0"/>
          </a:p>
        </p:txBody>
      </p:sp>
      <p:sp>
        <p:nvSpPr>
          <p:cNvPr id="3" name="Text 772"/>
          <p:cNvSpPr txBox="1"/>
          <p:nvPr/>
        </p:nvSpPr>
        <p:spPr>
          <a:xfrm>
            <a:off x="0" y="278892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2"/>
                </a:solidFill>
              </a:rPr>
              <a:t>Nila Social Media</a:t>
            </a:r>
            <a:endParaRPr lang="en-US" sz="2800" dirty="0"/>
          </a:p>
        </p:txBody>
      </p:sp>
      <p:sp>
        <p:nvSpPr>
          <p:cNvPr id="4" name="Text 773"/>
          <p:cNvSpPr txBox="1"/>
          <p:nvPr/>
        </p:nvSpPr>
        <p:spPr>
          <a:xfrm>
            <a:off x="0" y="33832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2"/>
                </a:solidFill>
              </a:rPr>
              <a:t>A Web-Based Social Media Application with Local AI Studio</a:t>
            </a:r>
            <a:endParaRPr lang="en-US" sz="1800" dirty="0"/>
          </a:p>
        </p:txBody>
      </p:sp>
      <p:sp>
        <p:nvSpPr>
          <p:cNvPr id="7" name="Text 776"/>
          <p:cNvSpPr txBox="1"/>
          <p:nvPr/>
        </p:nvSpPr>
        <p:spPr>
          <a:xfrm>
            <a:off x="0" y="59436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>
                    <a:alpha val="80000"/>
                  </a:schemeClr>
                </a:solidFill>
              </a:rPr>
              <a:t>Vaishnavi Gireesh  ·  MCA (S3)  ·  Guide: Ms. Ashwini Vijayachandran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la Social Media">
  <a:themeElements>
    <a:clrScheme name="Nila Social Media">
      <a:dk1>
        <a:srgbClr val="0B1030"/>
      </a:dk1>
      <a:lt1>
        <a:srgbClr val="FFFFFF"/>
      </a:lt1>
      <a:dk2>
        <a:srgbClr val="111B4B"/>
      </a:dk2>
      <a:lt2>
        <a:srgbClr val="F1F2FC"/>
      </a:lt2>
      <a:accent1>
        <a:srgbClr val="4F46E5"/>
      </a:accent1>
      <a:accent2>
        <a:srgbClr val="0891B2"/>
      </a:accent2>
      <a:accent3>
        <a:srgbClr val="059669"/>
      </a:accent3>
      <a:accent4>
        <a:srgbClr val="D97706"/>
      </a:accent4>
      <a:accent5>
        <a:srgbClr val="64748B"/>
      </a:accent5>
      <a:accent6>
        <a:srgbClr val="1E3A8A"/>
      </a:accent6>
      <a:hlink>
        <a:srgbClr val="4F46E5"/>
      </a:hlink>
      <a:folHlink>
        <a:srgbClr val="7C3AED"/>
      </a:folHlink>
    </a:clrScheme>
    <a:fontScheme name="Nila Social Medi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2924</Words>
  <Application>Microsoft Office PowerPoint</Application>
  <PresentationFormat>Widescreen</PresentationFormat>
  <Paragraphs>602</Paragraphs>
  <Slides>37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Times New Roman</vt:lpstr>
      <vt:lpstr>Nila Social Media</vt:lpstr>
      <vt:lpstr>PowerPoint Presentation</vt:lpstr>
      <vt:lpstr>Introduction</vt:lpstr>
      <vt:lpstr>Abstract</vt:lpstr>
      <vt:lpstr>Problem Definition</vt:lpstr>
      <vt:lpstr>Objectives</vt:lpstr>
      <vt:lpstr>Existing System</vt:lpstr>
      <vt:lpstr>Proposed System</vt:lpstr>
      <vt:lpstr>Scope of the Project</vt:lpstr>
      <vt:lpstr>Literature Review</vt:lpstr>
      <vt:lpstr>Technologies Used</vt:lpstr>
      <vt:lpstr>Software &amp; Hardware Requirements</vt:lpstr>
      <vt:lpstr>System Architecture</vt:lpstr>
      <vt:lpstr>Design Diagrams</vt:lpstr>
      <vt:lpstr>DFD Level 1 – User </vt:lpstr>
      <vt:lpstr>Use Case Diagram </vt:lpstr>
      <vt:lpstr>Class Diagram </vt:lpstr>
      <vt:lpstr>State Diagram </vt:lpstr>
      <vt:lpstr>Activity Diagram</vt:lpstr>
      <vt:lpstr>Sequence Diagram </vt:lpstr>
      <vt:lpstr>Module Description</vt:lpstr>
      <vt:lpstr>Algorithm / Methodology</vt:lpstr>
      <vt:lpstr>Implementation</vt:lpstr>
      <vt:lpstr>Results / Analysis</vt:lpstr>
      <vt:lpstr>Screenshots / Output</vt:lpstr>
      <vt:lpstr>Registration  Page</vt:lpstr>
      <vt:lpstr>Home Feed</vt:lpstr>
      <vt:lpstr>Create Post with Local AI Studio</vt:lpstr>
      <vt:lpstr>User Profile Page </vt:lpstr>
      <vt:lpstr>Comparison with Existing System</vt:lpstr>
      <vt:lpstr>Testing</vt:lpstr>
      <vt:lpstr>Demo Video</vt:lpstr>
      <vt:lpstr>Advantages</vt:lpstr>
      <vt:lpstr>Limitations</vt:lpstr>
      <vt:lpstr>Conclusion</vt:lpstr>
      <vt:lpstr>Future Scope</vt:lpstr>
      <vt:lpstr>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Nila Social Media - MCA Mini Project Final Presentation</dc:title>
  <dc:subject>PptxGenJS Presentation</dc:subject>
  <dc:creator>Vaishnavi Gireesh</dc:creator>
  <cp:lastModifiedBy>Vaishnavi Girish</cp:lastModifiedBy>
  <cp:revision>13</cp:revision>
  <dcterms:created xsi:type="dcterms:W3CDTF">2026-10-02T08:56:31Z</dcterms:created>
  <dcterms:modified xsi:type="dcterms:W3CDTF">2026-10-06T15:30:03Z</dcterms:modified>
</cp:coreProperties>
</file>